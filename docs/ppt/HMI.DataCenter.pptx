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82"/>
    <p:restoredTop sz="75945"/>
  </p:normalViewPr>
  <p:slideViewPr>
    <p:cSldViewPr snapToGrid="0">
      <p:cViewPr varScale="1">
        <p:scale>
          <a:sx n="153" d="100"/>
          <a:sy n="153" d="100"/>
        </p:scale>
        <p:origin x="184" y="2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51BD4-9B12-4642-965D-81A9255642C3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CE092-5668-BC46-A319-25B7D52F9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Suggested narrative:</a:t>
            </a:r>
            <a:br>
              <a:rPr lang="en-US" dirty="0"/>
            </a:br>
            <a:r>
              <a:rPr lang="en-US" dirty="0"/>
              <a:t>The current state of the art is that today, we have </a:t>
            </a:r>
            <a:r>
              <a:rPr lang="en-US" b="1" dirty="0"/>
              <a:t>siloed visualization</a:t>
            </a:r>
            <a:r>
              <a:rPr lang="en-US" dirty="0"/>
              <a:t> — in other words, </a:t>
            </a:r>
            <a:r>
              <a:rPr lang="en-US" b="1" dirty="0"/>
              <a:t>current practice</a:t>
            </a:r>
            <a:r>
              <a:rPr lang="en-US" dirty="0"/>
              <a:t> really is </a:t>
            </a:r>
            <a:r>
              <a:rPr lang="en-US" b="1" dirty="0"/>
              <a:t>siloed toolchains</a:t>
            </a:r>
            <a:r>
              <a:rPr lang="en-US" dirty="0"/>
              <a:t> and </a:t>
            </a:r>
            <a:r>
              <a:rPr lang="en-US" b="1" dirty="0"/>
              <a:t>workflows</a:t>
            </a:r>
            <a:r>
              <a:rPr lang="en-US" dirty="0"/>
              <a:t> spread across people who are all trying to decide something, which is why we end up with </a:t>
            </a:r>
            <a:r>
              <a:rPr lang="en-US" b="1" dirty="0"/>
              <a:t>fragmented workflows</a:t>
            </a:r>
            <a:r>
              <a:rPr lang="en-US" dirty="0"/>
              <a:t> and </a:t>
            </a:r>
            <a:r>
              <a:rPr lang="en-US" b="1" dirty="0"/>
              <a:t>no single source of truth</a:t>
            </a:r>
            <a:r>
              <a:rPr lang="en-US" dirty="0"/>
              <a:t>. Indeed, a </a:t>
            </a:r>
            <a:r>
              <a:rPr lang="en-US" b="1" dirty="0"/>
              <a:t>simulation scientist A</a:t>
            </a:r>
            <a:r>
              <a:rPr lang="en-US" dirty="0"/>
              <a:t> may live in </a:t>
            </a:r>
            <a:r>
              <a:rPr lang="en-US" b="1" dirty="0"/>
              <a:t>Python / </a:t>
            </a:r>
            <a:r>
              <a:rPr lang="en-US" b="1" dirty="0" err="1"/>
              <a:t>Matlab</a:t>
            </a:r>
            <a:r>
              <a:rPr lang="en-US" dirty="0"/>
              <a:t> on a </a:t>
            </a:r>
            <a:r>
              <a:rPr lang="en-US" b="1" dirty="0"/>
              <a:t>local machine</a:t>
            </a:r>
            <a:r>
              <a:rPr lang="en-US" dirty="0"/>
              <a:t> and share by </a:t>
            </a:r>
            <a:r>
              <a:rPr lang="en-US" b="1" dirty="0"/>
              <a:t>email</a:t>
            </a:r>
            <a:r>
              <a:rPr lang="en-US" dirty="0"/>
              <a:t> or </a:t>
            </a:r>
            <a:r>
              <a:rPr lang="en-US" b="1" dirty="0"/>
              <a:t>screenshot</a:t>
            </a:r>
            <a:r>
              <a:rPr lang="en-US" dirty="0"/>
              <a:t>; separately, a </a:t>
            </a:r>
            <a:r>
              <a:rPr lang="en-US" b="1" dirty="0"/>
              <a:t>plant manager / stakeholder</a:t>
            </a:r>
            <a:r>
              <a:rPr lang="en-US" dirty="0"/>
              <a:t> may anchor the story in </a:t>
            </a:r>
            <a:r>
              <a:rPr lang="en-US" b="1" dirty="0"/>
              <a:t>Excel</a:t>
            </a:r>
            <a:r>
              <a:rPr lang="en-US" dirty="0"/>
              <a:t>, still on a </a:t>
            </a:r>
            <a:r>
              <a:rPr lang="en-US" b="1" dirty="0"/>
              <a:t>local machine</a:t>
            </a:r>
            <a:r>
              <a:rPr lang="en-US" dirty="0"/>
              <a:t>, passing </a:t>
            </a:r>
            <a:r>
              <a:rPr lang="en-US" b="1" dirty="0"/>
              <a:t>attachments</a:t>
            </a:r>
            <a:r>
              <a:rPr lang="en-US" dirty="0"/>
              <a:t> or </a:t>
            </a:r>
            <a:r>
              <a:rPr lang="en-US" b="1" dirty="0"/>
              <a:t>CSV</a:t>
            </a:r>
            <a:r>
              <a:rPr lang="en-US" dirty="0"/>
              <a:t>; and a </a:t>
            </a:r>
            <a:r>
              <a:rPr lang="en-US" b="1" dirty="0"/>
              <a:t>control room engineer</a:t>
            </a:r>
            <a:r>
              <a:rPr lang="en-US" dirty="0"/>
              <a:t> may rely on a </a:t>
            </a:r>
            <a:r>
              <a:rPr lang="en-US" b="1" dirty="0"/>
              <a:t>custom tool</a:t>
            </a:r>
            <a:r>
              <a:rPr lang="en-US" dirty="0"/>
              <a:t>, again </a:t>
            </a:r>
            <a:r>
              <a:rPr lang="en-US" b="1" dirty="0"/>
              <a:t>local</a:t>
            </a:r>
            <a:r>
              <a:rPr lang="en-US" dirty="0"/>
              <a:t>, and move data by </a:t>
            </a:r>
            <a:r>
              <a:rPr lang="en-US" b="1" dirty="0"/>
              <a:t>export</a:t>
            </a:r>
            <a:r>
              <a:rPr lang="en-US" dirty="0"/>
              <a:t> or </a:t>
            </a:r>
            <a:r>
              <a:rPr lang="en-US" b="1" dirty="0"/>
              <a:t>copy‑paste</a:t>
            </a:r>
            <a:r>
              <a:rPr lang="en-US" dirty="0"/>
              <a:t> — and that’s the everyday glue. When you add it up, you get what the slide says in one line: </a:t>
            </a:r>
            <a:r>
              <a:rPr lang="en-US" b="1" dirty="0"/>
              <a:t>same data</a:t>
            </a:r>
            <a:r>
              <a:rPr lang="en-US" dirty="0"/>
              <a:t>, </a:t>
            </a:r>
            <a:r>
              <a:rPr lang="en-US" b="1" dirty="0"/>
              <a:t>different plots</a:t>
            </a:r>
            <a:r>
              <a:rPr lang="en-US" dirty="0"/>
              <a:t>, </a:t>
            </a:r>
            <a:r>
              <a:rPr lang="en-US" b="1" dirty="0"/>
              <a:t>different conclusions</a:t>
            </a:r>
            <a:r>
              <a:rPr lang="en-US" dirty="0"/>
              <a:t>. Under that you see the consequences we’re naming out loud — </a:t>
            </a:r>
            <a:r>
              <a:rPr lang="en-US" b="1" dirty="0"/>
              <a:t>no version control</a:t>
            </a:r>
            <a:r>
              <a:rPr lang="en-US" dirty="0"/>
              <a:t>, </a:t>
            </a:r>
            <a:r>
              <a:rPr lang="en-US" b="1" dirty="0"/>
              <a:t>no provenance / audit</a:t>
            </a:r>
            <a:r>
              <a:rPr lang="en-US" dirty="0"/>
              <a:t>, </a:t>
            </a:r>
            <a:r>
              <a:rPr lang="en-US" b="1" dirty="0"/>
              <a:t>inconsistent scaling &amp; units</a:t>
            </a:r>
            <a:r>
              <a:rPr lang="en-US" dirty="0"/>
              <a:t>, </a:t>
            </a:r>
            <a:r>
              <a:rPr lang="en-US" b="1" dirty="0"/>
              <a:t>poor reproducibility</a:t>
            </a:r>
            <a:r>
              <a:rPr lang="en-US" dirty="0"/>
              <a:t>, </a:t>
            </a:r>
            <a:r>
              <a:rPr lang="en-US" b="1" dirty="0"/>
              <a:t>manual sync</a:t>
            </a:r>
            <a:r>
              <a:rPr lang="en-US" dirty="0"/>
              <a:t> and </a:t>
            </a:r>
            <a:r>
              <a:rPr lang="en-US" b="1" dirty="0"/>
              <a:t>drift</a:t>
            </a:r>
            <a:r>
              <a:rPr lang="en-US" dirty="0"/>
              <a:t>, and </a:t>
            </a:r>
            <a:r>
              <a:rPr lang="en-US" b="1" dirty="0"/>
              <a:t>no real-time collaboration</a:t>
            </a:r>
            <a:r>
              <a:rPr lang="en-US" dirty="0"/>
              <a:t> — so we’re not pretending the pain is abstract. And that bottom line is deliberate too: today it’s </a:t>
            </a:r>
            <a:r>
              <a:rPr lang="en-US" b="1" dirty="0"/>
              <a:t>no M6</a:t>
            </a:r>
            <a:r>
              <a:rPr lang="en-US" dirty="0"/>
              <a:t> — </a:t>
            </a:r>
            <a:r>
              <a:rPr lang="en-US" b="1" dirty="0"/>
              <a:t>single user</a:t>
            </a:r>
            <a:r>
              <a:rPr lang="en-US" dirty="0"/>
              <a:t>, </a:t>
            </a:r>
            <a:r>
              <a:rPr lang="en-US" b="1" dirty="0"/>
              <a:t>location</a:t>
            </a:r>
            <a:r>
              <a:rPr lang="en-US" dirty="0"/>
              <a:t>, </a:t>
            </a:r>
            <a:r>
              <a:rPr lang="en-US" b="1" dirty="0"/>
              <a:t>device</a:t>
            </a:r>
            <a:r>
              <a:rPr lang="en-US" dirty="0"/>
              <a:t>, </a:t>
            </a:r>
            <a:r>
              <a:rPr lang="en-US" b="1" dirty="0"/>
              <a:t>purpose</a:t>
            </a:r>
            <a:r>
              <a:rPr lang="en-US" dirty="0"/>
              <a:t>, </a:t>
            </a:r>
            <a:r>
              <a:rPr lang="en-US" b="1" dirty="0"/>
              <a:t>modality</a:t>
            </a:r>
            <a:r>
              <a:rPr lang="en-US" dirty="0"/>
              <a:t> — </a:t>
            </a:r>
            <a:r>
              <a:rPr lang="en-US" b="1" dirty="0"/>
              <a:t>limited dimensions</a:t>
            </a:r>
            <a:r>
              <a:rPr lang="en-US" dirty="0"/>
              <a:t> — which is exactly why the next slide has to be about breaking out of that box.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CE092-5668-BC46-A319-25B7D52F95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16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built </a:t>
            </a:r>
            <a:r>
              <a:rPr lang="en-US" b="1" dirty="0"/>
              <a:t>M6</a:t>
            </a:r>
            <a:r>
              <a:rPr lang="en-US" dirty="0"/>
              <a:t> as the direct response to the </a:t>
            </a:r>
            <a:r>
              <a:rPr lang="en-US" b="1" dirty="0"/>
              <a:t>siloed</a:t>
            </a:r>
            <a:r>
              <a:rPr lang="en-US" dirty="0"/>
              <a:t> picture you just saw: one platform that unifies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devices</a:t>
            </a:r>
            <a:r>
              <a:rPr lang="en-US" dirty="0"/>
              <a:t> into a </a:t>
            </a:r>
            <a:r>
              <a:rPr lang="en-US" b="1" dirty="0"/>
              <a:t>single system</a:t>
            </a:r>
            <a:r>
              <a:rPr lang="en-US" dirty="0"/>
              <a:t>. What </a:t>
            </a:r>
            <a:r>
              <a:rPr lang="en-US" b="1" dirty="0"/>
              <a:t>M6</a:t>
            </a:r>
            <a:r>
              <a:rPr lang="en-US" dirty="0"/>
              <a:t> encodes in practice is </a:t>
            </a:r>
            <a:r>
              <a:rPr lang="en-US" b="1" dirty="0"/>
              <a:t>multi-persona</a:t>
            </a:r>
            <a:r>
              <a:rPr lang="en-US" dirty="0"/>
              <a:t> / </a:t>
            </a:r>
            <a:r>
              <a:rPr lang="en-US" b="1" dirty="0"/>
              <a:t>multi-user</a:t>
            </a:r>
            <a:r>
              <a:rPr lang="en-US" dirty="0"/>
              <a:t> access, </a:t>
            </a:r>
            <a:r>
              <a:rPr lang="en-US" b="1" dirty="0"/>
              <a:t>multi-device</a:t>
            </a:r>
            <a:r>
              <a:rPr lang="en-US" dirty="0"/>
              <a:t> clients, use in </a:t>
            </a:r>
            <a:r>
              <a:rPr lang="en-US" b="1" dirty="0"/>
              <a:t>multiple locations</a:t>
            </a:r>
            <a:r>
              <a:rPr lang="en-US" dirty="0"/>
              <a:t>, and </a:t>
            </a:r>
            <a:r>
              <a:rPr lang="en-US" b="1" dirty="0"/>
              <a:t>multi-dimensional</a:t>
            </a:r>
            <a:r>
              <a:rPr lang="en-US" dirty="0"/>
              <a:t> presentation of the same underlying information—so we are not reconciling several local worlds after the fact. </a:t>
            </a:r>
            <a:r>
              <a:rPr lang="en-US" b="1" dirty="0"/>
              <a:t>Multi-modality</a:t>
            </a:r>
            <a:r>
              <a:rPr lang="en-US" dirty="0"/>
              <a:t>—</a:t>
            </a:r>
            <a:r>
              <a:rPr lang="en-US" b="1" dirty="0"/>
              <a:t>voice</a:t>
            </a:r>
            <a:r>
              <a:rPr lang="en-US" dirty="0"/>
              <a:t>, </a:t>
            </a:r>
            <a:r>
              <a:rPr lang="en-US" b="1" dirty="0"/>
              <a:t>hand tracking</a:t>
            </a:r>
            <a:r>
              <a:rPr lang="en-US" dirty="0"/>
              <a:t>, </a:t>
            </a:r>
            <a:r>
              <a:rPr lang="en-US" b="1" dirty="0"/>
              <a:t>gesture recognition</a:t>
            </a:r>
            <a:r>
              <a:rPr lang="en-US" dirty="0"/>
              <a:t>, </a:t>
            </a:r>
            <a:r>
              <a:rPr lang="en-US" b="1" dirty="0"/>
              <a:t>eye tracking</a:t>
            </a:r>
            <a:r>
              <a:rPr lang="en-US" dirty="0"/>
              <a:t>, and similar channels—is part of the forward path; today the emphasis is a shared analytical and visualization surface backed by one store. The stack is also deliberately </a:t>
            </a:r>
            <a:r>
              <a:rPr lang="en-US" b="1" dirty="0"/>
              <a:t>multi-purpose</a:t>
            </a:r>
            <a:r>
              <a:rPr lang="en-US" dirty="0"/>
              <a:t>: the dominant load today is </a:t>
            </a:r>
            <a:r>
              <a:rPr lang="en-US" b="1" dirty="0"/>
              <a:t>simulation</a:t>
            </a:r>
            <a:r>
              <a:rPr lang="en-US" dirty="0"/>
              <a:t> data, but the architecture is </a:t>
            </a:r>
            <a:r>
              <a:rPr lang="en-US" b="1" dirty="0"/>
              <a:t>polymorphic</a:t>
            </a:r>
            <a:r>
              <a:rPr lang="en-US" dirty="0"/>
              <a:t> in the sense that the same </a:t>
            </a:r>
            <a:r>
              <a:rPr lang="en-US" b="1" dirty="0"/>
              <a:t>PostgreSQL</a:t>
            </a:r>
            <a:r>
              <a:rPr lang="en-US" dirty="0"/>
              <a:t> foundation, running </a:t>
            </a:r>
            <a:r>
              <a:rPr lang="en-US" b="1" dirty="0"/>
              <a:t>containerized</a:t>
            </a:r>
            <a:r>
              <a:rPr lang="en-US" dirty="0"/>
              <a:t> on </a:t>
            </a:r>
            <a:r>
              <a:rPr lang="en-US" b="1" dirty="0"/>
              <a:t>AWS</a:t>
            </a:r>
            <a:r>
              <a:rPr lang="en-US" dirty="0"/>
              <a:t>, can support other domains without duplicating “official” views or forking the database. Operationally, that lets a </a:t>
            </a:r>
            <a:r>
              <a:rPr lang="en-US" b="1" dirty="0"/>
              <a:t>simulation scientist</a:t>
            </a:r>
            <a:r>
              <a:rPr lang="en-US" dirty="0"/>
              <a:t> present clearly to a </a:t>
            </a:r>
            <a:r>
              <a:rPr lang="en-US" b="1" dirty="0"/>
              <a:t>stakeholder</a:t>
            </a:r>
            <a:r>
              <a:rPr lang="en-US" dirty="0"/>
              <a:t>, and it lets an </a:t>
            </a:r>
            <a:r>
              <a:rPr lang="en-US" b="1" dirty="0"/>
              <a:t>FFA</a:t>
            </a:r>
            <a:r>
              <a:rPr lang="en-US" dirty="0"/>
              <a:t> or </a:t>
            </a:r>
            <a:r>
              <a:rPr lang="en-US" b="1" dirty="0"/>
              <a:t>plant manager</a:t>
            </a:r>
            <a:r>
              <a:rPr lang="en-US" dirty="0"/>
              <a:t> in a </a:t>
            </a:r>
            <a:r>
              <a:rPr lang="en-US" b="1" dirty="0"/>
              <a:t>control room</a:t>
            </a:r>
            <a:r>
              <a:rPr lang="en-US" dirty="0"/>
              <a:t> decide from data that the technical team has already exercised—</a:t>
            </a:r>
            <a:r>
              <a:rPr lang="en-US" b="1" dirty="0"/>
              <a:t>same visualization layer</a:t>
            </a:r>
            <a:r>
              <a:rPr lang="en-US" dirty="0"/>
              <a:t>, </a:t>
            </a:r>
            <a:r>
              <a:rPr lang="en-US" b="1" dirty="0"/>
              <a:t>same plots</a:t>
            </a:r>
            <a:r>
              <a:rPr lang="en-US" dirty="0"/>
              <a:t>, </a:t>
            </a:r>
            <a:r>
              <a:rPr lang="en-US" b="1" dirty="0"/>
              <a:t>same scales</a:t>
            </a:r>
            <a:r>
              <a:rPr lang="en-US" dirty="0"/>
              <a:t>, </a:t>
            </a:r>
            <a:r>
              <a:rPr lang="en-US" b="1" dirty="0"/>
              <a:t>same form factors</a:t>
            </a:r>
            <a:r>
              <a:rPr lang="en-US" dirty="0"/>
              <a:t>, </a:t>
            </a:r>
            <a:r>
              <a:rPr lang="en-US" b="1" dirty="0"/>
              <a:t>same naming on the axes</a:t>
            </a:r>
            <a:r>
              <a:rPr lang="en-US" dirty="0"/>
              <a:t>, </a:t>
            </a:r>
            <a:r>
              <a:rPr lang="en-US" b="1" dirty="0"/>
              <a:t>same filters</a:t>
            </a:r>
            <a:r>
              <a:rPr lang="en-US" dirty="0"/>
              <a:t>, </a:t>
            </a:r>
            <a:r>
              <a:rPr lang="en-US" b="1" dirty="0"/>
              <a:t>same data-exploration context</a:t>
            </a:r>
            <a:r>
              <a:rPr lang="en-US" dirty="0"/>
              <a:t>—so debate is about interpretation and risk, not about which file or screenshot happened to circulate.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CE092-5668-BC46-A319-25B7D52F95F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4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Suggested Notes, speaking points:</a:t>
            </a:r>
            <a:br>
              <a:rPr lang="en-US" dirty="0">
                <a:effectLst/>
              </a:rPr>
            </a:br>
            <a:br>
              <a:rPr lang="en-US" dirty="0">
                <a:effectLst/>
              </a:rPr>
            </a:br>
            <a:r>
              <a:rPr lang="en-US" dirty="0">
                <a:effectLst/>
              </a:rPr>
              <a:t>operations, field, and lab still need the </a:t>
            </a:r>
            <a:r>
              <a:rPr lang="en-US" b="1" dirty="0">
                <a:effectLst/>
              </a:rPr>
              <a:t>same truth</a:t>
            </a:r>
            <a:r>
              <a:rPr lang="en-US" dirty="0">
                <a:effectLst/>
              </a:rPr>
              <a:t>, but they rarely share one visualization stack. Point to the </a:t>
            </a:r>
            <a:r>
              <a:rPr lang="en-US" b="1" dirty="0">
                <a:effectLst/>
              </a:rPr>
              <a:t>cloud</a:t>
            </a:r>
            <a:r>
              <a:rPr lang="en-US" dirty="0">
                <a:effectLst/>
              </a:rPr>
              <a:t> as the </a:t>
            </a:r>
            <a:r>
              <a:rPr lang="en-US" b="1" dirty="0">
                <a:effectLst/>
              </a:rPr>
              <a:t>unified M6 backbone</a:t>
            </a:r>
            <a:r>
              <a:rPr lang="en-US" dirty="0">
                <a:effectLst/>
              </a:rPr>
              <a:t>—ETL and persistence in </a:t>
            </a:r>
            <a:r>
              <a:rPr lang="en-US" b="1" dirty="0">
                <a:effectLst/>
              </a:rPr>
              <a:t>governed containers</a:t>
            </a:r>
            <a:r>
              <a:rPr lang="en-US" dirty="0">
                <a:effectLst/>
              </a:rPr>
              <a:t>, one </a:t>
            </a:r>
            <a:r>
              <a:rPr lang="en-US" b="1" dirty="0">
                <a:effectLst/>
              </a:rPr>
              <a:t>API and web app</a:t>
            </a:r>
            <a:r>
              <a:rPr lang="en-US" dirty="0">
                <a:effectLst/>
              </a:rPr>
              <a:t> pattern (</a:t>
            </a:r>
            <a:r>
              <a:rPr lang="en-US" b="1" dirty="0" err="1">
                <a:effectLst/>
              </a:rPr>
              <a:t>FastAPI</a:t>
            </a:r>
            <a:r>
              <a:rPr lang="en-US" dirty="0">
                <a:effectLst/>
              </a:rPr>
              <a:t>, </a:t>
            </a:r>
            <a:r>
              <a:rPr lang="en-US" b="1" dirty="0">
                <a:effectLst/>
              </a:rPr>
              <a:t>React / Plotly</a:t>
            </a:r>
            <a:r>
              <a:rPr lang="en-US" dirty="0">
                <a:effectLst/>
              </a:rPr>
              <a:t>), so everyone sees </a:t>
            </a:r>
            <a:r>
              <a:rPr lang="en-US" b="1" dirty="0">
                <a:effectLst/>
              </a:rPr>
              <a:t>comparable scales, axes, filters, and naming</a:t>
            </a:r>
            <a:r>
              <a:rPr lang="en-US" dirty="0">
                <a:effectLst/>
              </a:rPr>
              <a:t>. Walk the </a:t>
            </a:r>
            <a:r>
              <a:rPr lang="en-US" b="1" dirty="0">
                <a:effectLst/>
              </a:rPr>
              <a:t>four decision surfaces</a:t>
            </a:r>
            <a:r>
              <a:rPr lang="en-US" dirty="0">
                <a:effectLst/>
              </a:rPr>
              <a:t> left to right: </a:t>
            </a:r>
            <a:r>
              <a:rPr lang="en-US" b="1" dirty="0">
                <a:effectLst/>
              </a:rPr>
              <a:t>field</a:t>
            </a:r>
            <a:r>
              <a:rPr lang="en-US" dirty="0">
                <a:effectLst/>
              </a:rPr>
              <a:t> telemetry in, </a:t>
            </a:r>
            <a:r>
              <a:rPr lang="en-US" b="1" dirty="0">
                <a:effectLst/>
              </a:rPr>
              <a:t>control room</a:t>
            </a:r>
            <a:r>
              <a:rPr lang="en-US" dirty="0">
                <a:effectLst/>
              </a:rPr>
              <a:t> as the ops “surface,” then </a:t>
            </a:r>
            <a:r>
              <a:rPr lang="en-US" b="1" dirty="0">
                <a:effectLst/>
              </a:rPr>
              <a:t>two simulation scientists</a:t>
            </a:r>
            <a:r>
              <a:rPr lang="en-US" dirty="0">
                <a:effectLst/>
              </a:rPr>
              <a:t>—same role label on purpose—to show </a:t>
            </a:r>
            <a:r>
              <a:rPr lang="en-US" b="1" dirty="0">
                <a:effectLst/>
              </a:rPr>
              <a:t>collaboration through the stack</a:t>
            </a:r>
            <a:r>
              <a:rPr lang="en-US" dirty="0">
                <a:effectLst/>
              </a:rPr>
              <a:t>, not a separate tool per desk. Use the </a:t>
            </a:r>
            <a:r>
              <a:rPr lang="en-US" b="1" dirty="0">
                <a:effectLst/>
              </a:rPr>
              <a:t>gold</a:t>
            </a:r>
            <a:r>
              <a:rPr lang="en-US" dirty="0">
                <a:effectLst/>
              </a:rPr>
              <a:t> paths for </a:t>
            </a:r>
            <a:r>
              <a:rPr lang="en-US" b="1" dirty="0">
                <a:effectLst/>
              </a:rPr>
              <a:t>field → cloud → control room</a:t>
            </a:r>
            <a:r>
              <a:rPr lang="en-US" dirty="0">
                <a:effectLst/>
              </a:rPr>
              <a:t> (what happens in the plant </a:t>
            </a:r>
            <a:r>
              <a:rPr lang="en-US" b="1" dirty="0">
                <a:effectLst/>
              </a:rPr>
              <a:t>surfaces in ops</a:t>
            </a:r>
            <a:r>
              <a:rPr lang="en-US" dirty="0">
                <a:effectLst/>
              </a:rPr>
              <a:t>), and </a:t>
            </a:r>
            <a:r>
              <a:rPr lang="en-US" b="1" dirty="0">
                <a:effectLst/>
              </a:rPr>
              <a:t>teal</a:t>
            </a:r>
            <a:r>
              <a:rPr lang="en-US" dirty="0">
                <a:effectLst/>
              </a:rPr>
              <a:t> for </a:t>
            </a:r>
            <a:r>
              <a:rPr lang="en-US" b="1" dirty="0">
                <a:effectLst/>
              </a:rPr>
              <a:t>scientists ↔ cloud ↔ scientists</a:t>
            </a:r>
            <a:r>
              <a:rPr lang="en-US" dirty="0">
                <a:effectLst/>
              </a:rPr>
              <a:t> (models, data, and decisions </a:t>
            </a:r>
            <a:r>
              <a:rPr lang="en-US" b="1" dirty="0">
                <a:effectLst/>
              </a:rPr>
              <a:t>shared</a:t>
            </a:r>
            <a:r>
              <a:rPr lang="en-US" dirty="0">
                <a:effectLst/>
              </a:rPr>
              <a:t>, not siloed). Call out the </a:t>
            </a:r>
            <a:r>
              <a:rPr lang="en-US" b="1" dirty="0">
                <a:effectLst/>
              </a:rPr>
              <a:t>collaboration strip</a:t>
            </a:r>
            <a:r>
              <a:rPr lang="en-US" dirty="0">
                <a:effectLst/>
              </a:rPr>
              <a:t> (</a:t>
            </a:r>
            <a:r>
              <a:rPr lang="en-US" b="1" dirty="0">
                <a:effectLst/>
              </a:rPr>
              <a:t>personas, devices, locations</a:t>
            </a:r>
            <a:r>
              <a:rPr lang="en-US" dirty="0">
                <a:effectLst/>
              </a:rPr>
              <a:t>) as the </a:t>
            </a:r>
            <a:r>
              <a:rPr lang="en-US" b="1" dirty="0">
                <a:effectLst/>
              </a:rPr>
              <a:t>human/organizational</a:t>
            </a:r>
            <a:r>
              <a:rPr lang="en-US" dirty="0">
                <a:effectLst/>
              </a:rPr>
              <a:t> dimensions sitting on top of the same technical path, and the </a:t>
            </a:r>
            <a:r>
              <a:rPr lang="en-US" b="1" dirty="0">
                <a:effectLst/>
              </a:rPr>
              <a:t>multi-dimensional</a:t>
            </a:r>
            <a:r>
              <a:rPr lang="en-US" dirty="0">
                <a:effectLst/>
              </a:rPr>
              <a:t> cue as </a:t>
            </a:r>
            <a:r>
              <a:rPr lang="en-US" b="1" dirty="0">
                <a:effectLst/>
              </a:rPr>
              <a:t>richer information turning into decisions</a:t>
            </a:r>
            <a:r>
              <a:rPr lang="en-US" dirty="0">
                <a:effectLst/>
              </a:rPr>
              <a:t>—especially toward the lab-to-lab thread. Close with the </a:t>
            </a:r>
            <a:r>
              <a:rPr lang="en-US" b="1" dirty="0">
                <a:effectLst/>
              </a:rPr>
              <a:t>roadmap line</a:t>
            </a:r>
            <a:r>
              <a:rPr lang="en-US" dirty="0">
                <a:effectLst/>
              </a:rPr>
              <a:t>: this isn’t the end state—</a:t>
            </a:r>
            <a:r>
              <a:rPr lang="en-US" b="1" dirty="0">
                <a:effectLst/>
              </a:rPr>
              <a:t>multi-modality</a:t>
            </a:r>
            <a:r>
              <a:rPr lang="en-US" dirty="0">
                <a:effectLst/>
              </a:rPr>
              <a:t> and </a:t>
            </a:r>
            <a:r>
              <a:rPr lang="en-US" b="1" dirty="0">
                <a:effectLst/>
              </a:rPr>
              <a:t>multi-purpose</a:t>
            </a:r>
            <a:r>
              <a:rPr lang="en-US" dirty="0">
                <a:effectLst/>
              </a:rPr>
              <a:t> growth are the next horizon for </a:t>
            </a:r>
            <a:r>
              <a:rPr lang="en-US" b="1" dirty="0">
                <a:effectLst/>
              </a:rPr>
              <a:t>M6</a:t>
            </a:r>
            <a:r>
              <a:rPr lang="en-US" dirty="0">
                <a:effectLst/>
              </a:rPr>
              <a:t>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CE092-5668-BC46-A319-25B7D52F95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61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Explaining difference between customer mode and designer mode, and the different modalities of stacked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CE092-5668-BC46-A319-25B7D52F95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42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31CB-62BC-BACB-9447-EFBB4B3C4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B3EAD-8358-D697-EDDB-541A1413C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D3587-A43C-6207-99DE-20E6701F0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601-EF9F-804D-9304-2A170CA1107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8EDC1-D508-1E55-C093-CB98FC3E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CDAF-3F39-9E6C-EFEE-B189BE48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241E-059E-C44F-96B5-9F61212E0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30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A9CE0-C198-7FB9-EF87-737104F7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FFE53-69B5-A11D-D5A8-1B6115B4B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81322-9B7E-A83A-A77D-D0512C46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601-EF9F-804D-9304-2A170CA1107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FE6AC-8795-E5B0-4D85-31F83F81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05D06-222B-DF2C-A86B-81785FC4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241E-059E-C44F-96B5-9F61212E0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95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C42CD-4CCA-6195-96D6-E9757BC13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E6A23-CFD7-A585-4F71-E64BE035D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E8040-A36D-F489-A9DB-3A644AE1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601-EF9F-804D-9304-2A170CA1107A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893BF-7649-97FD-7747-3C876F88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11E88-8BD7-A1D2-7A37-C5BDA570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241E-059E-C44F-96B5-9F61212E0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13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7541A-3FBA-E717-9F2A-2A13EC603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1096-B8E3-7118-44A2-A26AFD27F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11075-18A7-6293-407E-4FC8A9352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55FA3-3FA6-F82A-7578-B5F45121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601-EF9F-804D-9304-2A170CA1107A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A68FA-D856-1655-F919-B2850E57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407F3-13EF-60DD-B64C-C154791C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241E-059E-C44F-96B5-9F61212E0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12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6EF4-D6E1-D08B-97D6-E4496AB0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DF56E-1E8F-2AB3-04B4-80DA26BA6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3FA6E-B3AA-3336-9FF0-DF42CF975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23B60-4336-36AD-1760-88991E97F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D5D84-8E7A-F255-FDC0-5A48EFBBE6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61E3B-A673-72F7-758D-069770036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601-EF9F-804D-9304-2A170CA1107A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5D253E-B9D2-E21C-108C-7EED1EF5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AA4064-9EC1-E942-5414-0481473A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241E-059E-C44F-96B5-9F61212E0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7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DB9F-4592-93EA-DC96-39510705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AF96-CA1F-AB9D-5D7E-7F79EA07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601-EF9F-804D-9304-2A170CA1107A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B0E7FC-72BB-FD27-CECC-4F105B12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F653B-30B4-7D76-DAF2-2C367F1CE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241E-059E-C44F-96B5-9F61212E0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50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DF22CE-A314-4032-7BFB-0F4F29D56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601-EF9F-804D-9304-2A170CA1107A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28609-C730-C19B-07D0-A7F3A2CC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4DF79-5D85-D495-1939-9A406FEB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241E-059E-C44F-96B5-9F61212E0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11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3B79-E430-253F-E215-49CD3C15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917BE-44DF-C86E-A638-A17E856DB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F5D69-7C0D-5CFB-F7C7-0E6E0FBE0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55A92-0668-B164-C0AA-6A1CC2803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601-EF9F-804D-9304-2A170CA1107A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88410-5B6B-3C5D-9446-4EE69ED9B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A0B05-0ADD-668F-B87B-D8014299C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241E-059E-C44F-96B5-9F61212E0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5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EE409-04A8-F6E2-E4C4-40A405575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C113D-44B7-601F-1753-0D03D8654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ECB58-7F8D-D5D4-4723-54696BB4C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E7906-3101-F62B-379B-EBD8DD9E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601-EF9F-804D-9304-2A170CA1107A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498E4-5616-AE06-422D-28015040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A297A-5291-A73A-CEAD-EA7759B5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241E-059E-C44F-96B5-9F61212E0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49367-611B-DFA3-E3AF-ACD381B3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BE571-88E7-2959-6CA7-76CB146E1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87012-210C-B082-B1AA-EF25BAEC7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601-EF9F-804D-9304-2A170CA1107A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93674-5993-E6B1-D396-B87B5938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A43D6-20AA-68AF-068A-853C57E2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241E-059E-C44F-96B5-9F61212E0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7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985B2-2C12-417D-72F4-12641EE8E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9CA2F-A900-7543-FE08-1DFA1116E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90515-30A1-27F7-900C-92E391C9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D1601-EF9F-804D-9304-2A170CA1107A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CF4A6-DC73-E1DA-EC5E-101C1D3B6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C5F19-66CF-7725-B7E0-E64CCC53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241E-059E-C44F-96B5-9F61212E0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41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68D769-B4E5-4D4A-88F0-A8A9D48E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8EA4F-DF3B-5968-DAD7-F84A8DDA5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4F01B-BAEC-E7A4-F4CD-D793B2657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D1601-EF9F-804D-9304-2A170CA1107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EAC8F-4979-F5A6-CF5F-C2860026C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0F836-0CDD-BEC0-68C5-ADEF795A1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5241E-059E-C44F-96B5-9F61212E0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3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3EB7C5-BD71-34F5-83EA-F6EF1A125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21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890114-EBB9-BA96-0371-1052BD153E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55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B7CED4-3EBA-BA03-D619-813877679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76" y="0"/>
            <a:ext cx="1219795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1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FC85DC-AE50-0518-40C6-8C64AD716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90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C20612-0448-660E-B789-D78348EAA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66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FAF140-F9B4-1185-BC5B-B76F3E9F9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50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BC6188-A161-770C-8258-B3EAB00EA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496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53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EA046AA-06E1-ACF3-C4B8-B2FEA147C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031" y="153785"/>
            <a:ext cx="9825644" cy="655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059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4485</TotalTime>
  <Words>735</Words>
  <Application>Microsoft Macintosh PowerPoint</Application>
  <PresentationFormat>Widescreen</PresentationFormat>
  <Paragraphs>9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Abi-Rached, Habib (GE Vernova)</dc:creator>
  <cp:lastModifiedBy>Abi-Rached, Habib (GE Vernova)</cp:lastModifiedBy>
  <cp:revision>12</cp:revision>
  <dcterms:created xsi:type="dcterms:W3CDTF">2026-03-19T22:55:37Z</dcterms:created>
  <dcterms:modified xsi:type="dcterms:W3CDTF">2026-03-23T14:59:00Z</dcterms:modified>
</cp:coreProperties>
</file>