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5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3"/>
  </p:notesMasterIdLst>
  <p:handoutMasterIdLst>
    <p:handoutMasterId r:id="rId14"/>
  </p:handoutMasterIdLst>
  <p:sldIdLst>
    <p:sldId id="351" r:id="rId5"/>
    <p:sldId id="2147472083" r:id="rId6"/>
    <p:sldId id="2147472058" r:id="rId7"/>
    <p:sldId id="256" r:id="rId8"/>
    <p:sldId id="2147472082" r:id="rId9"/>
    <p:sldId id="2147472067" r:id="rId10"/>
    <p:sldId id="2147472068" r:id="rId11"/>
    <p:sldId id="2147472084" r:id="rId12"/>
  </p:sldIdLst>
  <p:sldSz cx="12192000" cy="6858000"/>
  <p:notesSz cx="6858000" cy="9144000"/>
  <p:embeddedFontLst>
    <p:embeddedFont>
      <p:font typeface="Inter" panose="020B0604020202020204" charset="0"/>
      <p:regular r:id="rId15"/>
      <p:bold r:id="rId16"/>
      <p:italic r:id="rId17"/>
      <p:boldItalic r:id="rId18"/>
    </p:embeddedFont>
    <p:embeddedFont>
      <p:font typeface="Inter Semi Bold" panose="020B0604020202020204" charset="0"/>
      <p:regular r:id="rId19"/>
      <p:bold r:id="rId20"/>
      <p:italic r:id="rId21"/>
      <p:boldItalic r:id="rId22"/>
    </p:embeddedFont>
    <p:embeddedFont>
      <p:font typeface="Sons Condensed Extrabold" panose="020B0604020202020204"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CC2F8DD9-86A2-D245-808A-F23696EC8744}">
          <p14:sldIdLst>
            <p14:sldId id="351"/>
          </p14:sldIdLst>
        </p14:section>
        <p14:section name="Legal" id="{2B4CDE84-4FEF-49C5-A730-E2A84617BB83}">
          <p14:sldIdLst>
            <p14:sldId id="2147472083"/>
            <p14:sldId id="2147472058"/>
          </p14:sldIdLst>
        </p14:section>
        <p14:section name="Content Slides" id="{67D44C2D-CD61-D744-966E-F4C21F631564}">
          <p14:sldIdLst>
            <p14:sldId id="256"/>
            <p14:sldId id="2147472082"/>
            <p14:sldId id="2147472067"/>
            <p14:sldId id="2147472068"/>
            <p14:sldId id="2147472084"/>
          </p14:sldIdLst>
        </p14:section>
        <p14:section name="Divider Slides" id="{2577A663-DEE1-8D48-850A-0C7A7A1F1071}">
          <p14:sldIdLst/>
        </p14:section>
        <p14:section name="Table Slides" id="{109F7CEC-8528-0F49-BEB0-1DA664114510}">
          <p14:sldIdLst/>
        </p14:section>
        <p14:section name="Specialty Slides" id="{67F3D631-EB38-E245-9B3A-D7D8E008CFDB}">
          <p14:sldIdLst/>
        </p14:section>
        <p14:section name="Purpose Slide" id="{53401DC8-F997-4DB3-8474-5A99E5128534}">
          <p14:sldIdLst/>
        </p14:section>
        <p14:section name="Mission Slide" id="{00DD712F-DB05-AB4E-B5C6-BC77EA7419D8}">
          <p14:sldIdLst/>
        </p14:section>
        <p14:section name="Misc." id="{5843C9B3-F81F-9C42-91CE-6D74C37DC76A}">
          <p14:sldIdLst/>
        </p14:section>
        <p14:section name="Icons" id="{82F0B7C5-C48E-44AB-A3FF-B03432481F01}">
          <p14:sldIdLst/>
        </p14:section>
        <p14:section name="Logo Slide" id="{3489D8E1-6975-F243-81E4-8ACCC76565F8}">
          <p14:sldIdLst/>
        </p14:section>
      </p14:sectionLst>
    </p:ex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8A8A"/>
    <a:srgbClr val="439297"/>
    <a:srgbClr val="C7DBDB"/>
    <a:srgbClr val="96BDBD"/>
    <a:srgbClr val="212121"/>
    <a:srgbClr val="58984B"/>
    <a:srgbClr val="BFA682"/>
    <a:srgbClr val="8F7D62"/>
    <a:srgbClr val="438989"/>
    <a:srgbClr val="97BCBC"/>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4FA91D-A160-40E8-AA67-83F836338856}" v="4" dt="2026-10-15T00:23:19.3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59" autoAdjust="0"/>
  </p:normalViewPr>
  <p:slideViewPr>
    <p:cSldViewPr snapToGrid="0" snapToObjects="1" showGuides="1">
      <p:cViewPr varScale="1">
        <p:scale>
          <a:sx n="107" d="100"/>
          <a:sy n="107" d="100"/>
        </p:scale>
        <p:origin x="672" y="102"/>
      </p:cViewPr>
      <p:guideLst>
        <p:guide orient="horz" pos="2256"/>
        <p:guide pos="3696"/>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showGuides="1">
      <p:cViewPr varScale="1">
        <p:scale>
          <a:sx n="71" d="100"/>
          <a:sy n="71" d="100"/>
        </p:scale>
        <p:origin x="2952" y="43"/>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font" Target="fonts/font7.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font" Target="fonts/font5.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n, Martin (GE Vernova)" userId="1c4640ab-b0a4-47a9-9e0b-70c9c3c142e6" providerId="ADAL" clId="{688BD677-7841-4CC7-AFE2-CB0F88304D9A}"/>
    <pc:docChg chg="undo redo custSel addSld delSld modSld modSection">
      <pc:chgData name="Yan, Martin (GE Vernova)" userId="1c4640ab-b0a4-47a9-9e0b-70c9c3c142e6" providerId="ADAL" clId="{688BD677-7841-4CC7-AFE2-CB0F88304D9A}" dt="2026-10-15T00:31:40.888" v="4878" actId="20577"/>
      <pc:docMkLst>
        <pc:docMk/>
      </pc:docMkLst>
      <pc:sldChg chg="addSp delSp modSp add mod">
        <pc:chgData name="Yan, Martin (GE Vernova)" userId="1c4640ab-b0a4-47a9-9e0b-70c9c3c142e6" providerId="ADAL" clId="{688BD677-7841-4CC7-AFE2-CB0F88304D9A}" dt="2026-10-15T00:12:01.106" v="3884" actId="20577"/>
        <pc:sldMkLst>
          <pc:docMk/>
          <pc:sldMk cId="24814643" sldId="256"/>
        </pc:sldMkLst>
        <pc:spChg chg="mod">
          <ac:chgData name="Yan, Martin (GE Vernova)" userId="1c4640ab-b0a4-47a9-9e0b-70c9c3c142e6" providerId="ADAL" clId="{688BD677-7841-4CC7-AFE2-CB0F88304D9A}" dt="2026-10-13T18:58:21.650" v="3855" actId="20577"/>
          <ac:spMkLst>
            <pc:docMk/>
            <pc:sldMk cId="24814643" sldId="256"/>
            <ac:spMk id="2" creationId="{71635DEA-9C99-F664-A217-47B73607CC5A}"/>
          </ac:spMkLst>
        </pc:spChg>
        <pc:spChg chg="mod">
          <ac:chgData name="Yan, Martin (GE Vernova)" userId="1c4640ab-b0a4-47a9-9e0b-70c9c3c142e6" providerId="ADAL" clId="{688BD677-7841-4CC7-AFE2-CB0F88304D9A}" dt="2026-10-13T18:58:16.867" v="3851" actId="6549"/>
          <ac:spMkLst>
            <pc:docMk/>
            <pc:sldMk cId="24814643" sldId="256"/>
            <ac:spMk id="10" creationId="{3CB2ACCA-4794-E56C-1BC3-01C71054E36A}"/>
          </ac:spMkLst>
        </pc:spChg>
        <pc:spChg chg="mod">
          <ac:chgData name="Yan, Martin (GE Vernova)" userId="1c4640ab-b0a4-47a9-9e0b-70c9c3c142e6" providerId="ADAL" clId="{688BD677-7841-4CC7-AFE2-CB0F88304D9A}" dt="2026-10-13T19:00:03.444" v="3870" actId="1076"/>
          <ac:spMkLst>
            <pc:docMk/>
            <pc:sldMk cId="24814643" sldId="256"/>
            <ac:spMk id="11" creationId="{13720A4C-A538-7D1F-E7A1-E2093159FD0A}"/>
          </ac:spMkLst>
        </pc:spChg>
        <pc:spChg chg="mod">
          <ac:chgData name="Yan, Martin (GE Vernova)" userId="1c4640ab-b0a4-47a9-9e0b-70c9c3c142e6" providerId="ADAL" clId="{688BD677-7841-4CC7-AFE2-CB0F88304D9A}" dt="2026-10-10T20:18:05.791" v="1016" actId="6549"/>
          <ac:spMkLst>
            <pc:docMk/>
            <pc:sldMk cId="24814643" sldId="256"/>
            <ac:spMk id="14" creationId="{96893126-C4FA-8964-F2A3-87F1A28586E0}"/>
          </ac:spMkLst>
        </pc:spChg>
        <pc:spChg chg="mod">
          <ac:chgData name="Yan, Martin (GE Vernova)" userId="1c4640ab-b0a4-47a9-9e0b-70c9c3c142e6" providerId="ADAL" clId="{688BD677-7841-4CC7-AFE2-CB0F88304D9A}" dt="2026-10-15T00:12:01.106" v="3884" actId="20577"/>
          <ac:spMkLst>
            <pc:docMk/>
            <pc:sldMk cId="24814643" sldId="256"/>
            <ac:spMk id="15" creationId="{61766478-DCF2-7ADD-A6B1-F69FC3F485C3}"/>
          </ac:spMkLst>
        </pc:spChg>
        <pc:spChg chg="mod">
          <ac:chgData name="Yan, Martin (GE Vernova)" userId="1c4640ab-b0a4-47a9-9e0b-70c9c3c142e6" providerId="ADAL" clId="{688BD677-7841-4CC7-AFE2-CB0F88304D9A}" dt="2026-10-10T20:18:08.513" v="1017" actId="6549"/>
          <ac:spMkLst>
            <pc:docMk/>
            <pc:sldMk cId="24814643" sldId="256"/>
            <ac:spMk id="1042" creationId="{DB1F5E67-6508-0A63-229B-F49C6B8E2207}"/>
          </ac:spMkLst>
        </pc:spChg>
      </pc:sldChg>
      <pc:sldChg chg="modSp mod">
        <pc:chgData name="Yan, Martin (GE Vernova)" userId="1c4640ab-b0a4-47a9-9e0b-70c9c3c142e6" providerId="ADAL" clId="{688BD677-7841-4CC7-AFE2-CB0F88304D9A}" dt="2026-10-13T18:52:37.728" v="3825" actId="20577"/>
        <pc:sldMkLst>
          <pc:docMk/>
          <pc:sldMk cId="3589966122" sldId="351"/>
        </pc:sldMkLst>
        <pc:spChg chg="mod">
          <ac:chgData name="Yan, Martin (GE Vernova)" userId="1c4640ab-b0a4-47a9-9e0b-70c9c3c142e6" providerId="ADAL" clId="{688BD677-7841-4CC7-AFE2-CB0F88304D9A}" dt="2026-10-13T18:52:29.985" v="3823" actId="20577"/>
          <ac:spMkLst>
            <pc:docMk/>
            <pc:sldMk cId="3589966122" sldId="351"/>
            <ac:spMk id="3" creationId="{F8A1C700-35F7-8B6A-270F-1B40174ADA87}"/>
          </ac:spMkLst>
        </pc:spChg>
        <pc:spChg chg="mod">
          <ac:chgData name="Yan, Martin (GE Vernova)" userId="1c4640ab-b0a4-47a9-9e0b-70c9c3c142e6" providerId="ADAL" clId="{688BD677-7841-4CC7-AFE2-CB0F88304D9A}" dt="2026-10-13T18:52:37.728" v="3825" actId="20577"/>
          <ac:spMkLst>
            <pc:docMk/>
            <pc:sldMk cId="3589966122" sldId="351"/>
            <ac:spMk id="4" creationId="{6EF2BFB9-83C4-225B-0C30-B2B304808DF3}"/>
          </ac:spMkLst>
        </pc:spChg>
      </pc:sldChg>
      <pc:sldChg chg="addSp modSp add mod">
        <pc:chgData name="Yan, Martin (GE Vernova)" userId="1c4640ab-b0a4-47a9-9e0b-70c9c3c142e6" providerId="ADAL" clId="{688BD677-7841-4CC7-AFE2-CB0F88304D9A}" dt="2026-10-10T20:42:39.760" v="1427" actId="1076"/>
        <pc:sldMkLst>
          <pc:docMk/>
          <pc:sldMk cId="956078770" sldId="2147472058"/>
        </pc:sldMkLst>
        <pc:spChg chg="add mod">
          <ac:chgData name="Yan, Martin (GE Vernova)" userId="1c4640ab-b0a4-47a9-9e0b-70c9c3c142e6" providerId="ADAL" clId="{688BD677-7841-4CC7-AFE2-CB0F88304D9A}" dt="2026-10-10T20:42:39.760" v="1427" actId="1076"/>
          <ac:spMkLst>
            <pc:docMk/>
            <pc:sldMk cId="956078770" sldId="2147472058"/>
            <ac:spMk id="3" creationId="{33C0ED09-E69A-CDDA-8EFE-3E4B233E1B34}"/>
          </ac:spMkLst>
        </pc:spChg>
        <pc:spChg chg="mod">
          <ac:chgData name="Yan, Martin (GE Vernova)" userId="1c4640ab-b0a4-47a9-9e0b-70c9c3c142e6" providerId="ADAL" clId="{688BD677-7841-4CC7-AFE2-CB0F88304D9A}" dt="2026-10-10T20:42:29.646" v="1425" actId="1076"/>
          <ac:spMkLst>
            <pc:docMk/>
            <pc:sldMk cId="956078770" sldId="2147472058"/>
            <ac:spMk id="19" creationId="{FC272D54-E7BC-497C-AEAB-F28088FA84A3}"/>
          </ac:spMkLst>
        </pc:spChg>
      </pc:sldChg>
      <pc:sldChg chg="addSp delSp modSp new mod modClrScheme chgLayout">
        <pc:chgData name="Yan, Martin (GE Vernova)" userId="1c4640ab-b0a4-47a9-9e0b-70c9c3c142e6" providerId="ADAL" clId="{688BD677-7841-4CC7-AFE2-CB0F88304D9A}" dt="2026-10-15T00:22:59.516" v="4096" actId="1076"/>
        <pc:sldMkLst>
          <pc:docMk/>
          <pc:sldMk cId="1972913758" sldId="2147472067"/>
        </pc:sldMkLst>
        <pc:spChg chg="mod ord">
          <ac:chgData name="Yan, Martin (GE Vernova)" userId="1c4640ab-b0a4-47a9-9e0b-70c9c3c142e6" providerId="ADAL" clId="{688BD677-7841-4CC7-AFE2-CB0F88304D9A}" dt="2026-10-10T03:26:53.846" v="2" actId="700"/>
          <ac:spMkLst>
            <pc:docMk/>
            <pc:sldMk cId="1972913758" sldId="2147472067"/>
            <ac:spMk id="2" creationId="{1C212B14-F4DF-6DF5-F21F-E97D2D9CEA09}"/>
          </ac:spMkLst>
        </pc:spChg>
        <pc:spChg chg="mod ord">
          <ac:chgData name="Yan, Martin (GE Vernova)" userId="1c4640ab-b0a4-47a9-9e0b-70c9c3c142e6" providerId="ADAL" clId="{688BD677-7841-4CC7-AFE2-CB0F88304D9A}" dt="2026-10-10T03:26:53.846" v="2" actId="700"/>
          <ac:spMkLst>
            <pc:docMk/>
            <pc:sldMk cId="1972913758" sldId="2147472067"/>
            <ac:spMk id="3" creationId="{7C467202-9843-04F8-AA31-5355E90B3A31}"/>
          </ac:spMkLst>
        </pc:spChg>
        <pc:spChg chg="add mod ord">
          <ac:chgData name="Yan, Martin (GE Vernova)" userId="1c4640ab-b0a4-47a9-9e0b-70c9c3c142e6" providerId="ADAL" clId="{688BD677-7841-4CC7-AFE2-CB0F88304D9A}" dt="2026-10-15T00:12:52.152" v="3931" actId="6549"/>
          <ac:spMkLst>
            <pc:docMk/>
            <pc:sldMk cId="1972913758" sldId="2147472067"/>
            <ac:spMk id="4" creationId="{F608ABA3-B09C-E4CD-EA2B-AA6E659D9EF2}"/>
          </ac:spMkLst>
        </pc:spChg>
        <pc:spChg chg="add mod">
          <ac:chgData name="Yan, Martin (GE Vernova)" userId="1c4640ab-b0a4-47a9-9e0b-70c9c3c142e6" providerId="ADAL" clId="{688BD677-7841-4CC7-AFE2-CB0F88304D9A}" dt="2026-10-15T00:22:59.516" v="4096" actId="1076"/>
          <ac:spMkLst>
            <pc:docMk/>
            <pc:sldMk cId="1972913758" sldId="2147472067"/>
            <ac:spMk id="7" creationId="{D0400830-59ED-198B-86F1-2F62423E9C86}"/>
          </ac:spMkLst>
        </pc:spChg>
        <pc:spChg chg="add mod">
          <ac:chgData name="Yan, Martin (GE Vernova)" userId="1c4640ab-b0a4-47a9-9e0b-70c9c3c142e6" providerId="ADAL" clId="{688BD677-7841-4CC7-AFE2-CB0F88304D9A}" dt="2026-10-15T00:22:50.900" v="4095" actId="1076"/>
          <ac:spMkLst>
            <pc:docMk/>
            <pc:sldMk cId="1972913758" sldId="2147472067"/>
            <ac:spMk id="12" creationId="{6B768DFE-77AF-DAF3-01CE-908BF0716501}"/>
          </ac:spMkLst>
        </pc:spChg>
        <pc:picChg chg="add mod">
          <ac:chgData name="Yan, Martin (GE Vernova)" userId="1c4640ab-b0a4-47a9-9e0b-70c9c3c142e6" providerId="ADAL" clId="{688BD677-7841-4CC7-AFE2-CB0F88304D9A}" dt="2026-10-15T00:17:46.028" v="3988" actId="1076"/>
          <ac:picMkLst>
            <pc:docMk/>
            <pc:sldMk cId="1972913758" sldId="2147472067"/>
            <ac:picMk id="6" creationId="{2E933D44-2D03-E1F8-51B4-9B7E4038F84A}"/>
          </ac:picMkLst>
        </pc:picChg>
        <pc:picChg chg="add del">
          <ac:chgData name="Yan, Martin (GE Vernova)" userId="1c4640ab-b0a4-47a9-9e0b-70c9c3c142e6" providerId="ADAL" clId="{688BD677-7841-4CC7-AFE2-CB0F88304D9A}" dt="2026-10-15T00:16:57.382" v="3983" actId="478"/>
          <ac:picMkLst>
            <pc:docMk/>
            <pc:sldMk cId="1972913758" sldId="2147472067"/>
            <ac:picMk id="9" creationId="{0F34A92C-4874-F4A2-AFCC-8AEB98169AAD}"/>
          </ac:picMkLst>
        </pc:picChg>
        <pc:picChg chg="add mod">
          <ac:chgData name="Yan, Martin (GE Vernova)" userId="1c4640ab-b0a4-47a9-9e0b-70c9c3c142e6" providerId="ADAL" clId="{688BD677-7841-4CC7-AFE2-CB0F88304D9A}" dt="2026-10-15T00:17:36.933" v="3987" actId="1076"/>
          <ac:picMkLst>
            <pc:docMk/>
            <pc:sldMk cId="1972913758" sldId="2147472067"/>
            <ac:picMk id="11" creationId="{6995568F-BF18-8C12-766D-1C351D93EC55}"/>
          </ac:picMkLst>
        </pc:picChg>
      </pc:sldChg>
      <pc:sldChg chg="addSp delSp modSp add mod">
        <pc:chgData name="Yan, Martin (GE Vernova)" userId="1c4640ab-b0a4-47a9-9e0b-70c9c3c142e6" providerId="ADAL" clId="{688BD677-7841-4CC7-AFE2-CB0F88304D9A}" dt="2026-10-15T00:22:21.901" v="4080" actId="1076"/>
        <pc:sldMkLst>
          <pc:docMk/>
          <pc:sldMk cId="3141226317" sldId="2147472068"/>
        </pc:sldMkLst>
        <pc:spChg chg="mod">
          <ac:chgData name="Yan, Martin (GE Vernova)" userId="1c4640ab-b0a4-47a9-9e0b-70c9c3c142e6" providerId="ADAL" clId="{688BD677-7841-4CC7-AFE2-CB0F88304D9A}" dt="2026-10-10T03:37:35.565" v="377" actId="20577"/>
          <ac:spMkLst>
            <pc:docMk/>
            <pc:sldMk cId="3141226317" sldId="2147472068"/>
            <ac:spMk id="4" creationId="{F608ABA3-B09C-E4CD-EA2B-AA6E659D9EF2}"/>
          </ac:spMkLst>
        </pc:spChg>
        <pc:spChg chg="add mod">
          <ac:chgData name="Yan, Martin (GE Vernova)" userId="1c4640ab-b0a4-47a9-9e0b-70c9c3c142e6" providerId="ADAL" clId="{688BD677-7841-4CC7-AFE2-CB0F88304D9A}" dt="2026-10-15T00:22:21.901" v="4080" actId="1076"/>
          <ac:spMkLst>
            <pc:docMk/>
            <pc:sldMk cId="3141226317" sldId="2147472068"/>
            <ac:spMk id="6" creationId="{0E645C26-51D8-6315-A1DA-2635AD8F93BA}"/>
          </ac:spMkLst>
        </pc:spChg>
        <pc:spChg chg="add mod">
          <ac:chgData name="Yan, Martin (GE Vernova)" userId="1c4640ab-b0a4-47a9-9e0b-70c9c3c142e6" providerId="ADAL" clId="{688BD677-7841-4CC7-AFE2-CB0F88304D9A}" dt="2026-10-15T00:22:03.889" v="4078" actId="1038"/>
          <ac:spMkLst>
            <pc:docMk/>
            <pc:sldMk cId="3141226317" sldId="2147472068"/>
            <ac:spMk id="13" creationId="{09DB0C1F-0B64-3677-13F6-5BFC4837CCAD}"/>
          </ac:spMkLst>
        </pc:spChg>
        <pc:picChg chg="add mod">
          <ac:chgData name="Yan, Martin (GE Vernova)" userId="1c4640ab-b0a4-47a9-9e0b-70c9c3c142e6" providerId="ADAL" clId="{688BD677-7841-4CC7-AFE2-CB0F88304D9A}" dt="2026-10-15T00:21:25.606" v="4040" actId="1076"/>
          <ac:picMkLst>
            <pc:docMk/>
            <pc:sldMk cId="3141226317" sldId="2147472068"/>
            <ac:picMk id="8" creationId="{5251AD32-5981-7289-4416-2A710FEDC746}"/>
          </ac:picMkLst>
        </pc:picChg>
        <pc:picChg chg="add del mod">
          <ac:chgData name="Yan, Martin (GE Vernova)" userId="1c4640ab-b0a4-47a9-9e0b-70c9c3c142e6" providerId="ADAL" clId="{688BD677-7841-4CC7-AFE2-CB0F88304D9A}" dt="2026-10-15T00:16:47.384" v="3981" actId="21"/>
          <ac:picMkLst>
            <pc:docMk/>
            <pc:sldMk cId="3141226317" sldId="2147472068"/>
            <ac:picMk id="10" creationId="{8FC2D64E-7F63-3B6E-EDB7-700608F2DF21}"/>
          </ac:picMkLst>
        </pc:picChg>
        <pc:picChg chg="add mod">
          <ac:chgData name="Yan, Martin (GE Vernova)" userId="1c4640ab-b0a4-47a9-9e0b-70c9c3c142e6" providerId="ADAL" clId="{688BD677-7841-4CC7-AFE2-CB0F88304D9A}" dt="2026-10-15T00:21:29.798" v="4041" actId="1076"/>
          <ac:picMkLst>
            <pc:docMk/>
            <pc:sldMk cId="3141226317" sldId="2147472068"/>
            <ac:picMk id="12" creationId="{0F9B54E2-B2C6-10F9-A314-582A1E628A86}"/>
          </ac:picMkLst>
        </pc:picChg>
      </pc:sldChg>
      <pc:sldChg chg="delSp modSp add mod">
        <pc:chgData name="Yan, Martin (GE Vernova)" userId="1c4640ab-b0a4-47a9-9e0b-70c9c3c142e6" providerId="ADAL" clId="{688BD677-7841-4CC7-AFE2-CB0F88304D9A}" dt="2026-10-14T01:03:25.455" v="3883" actId="6549"/>
        <pc:sldMkLst>
          <pc:docMk/>
          <pc:sldMk cId="1133643480" sldId="2147472082"/>
        </pc:sldMkLst>
        <pc:spChg chg="mod">
          <ac:chgData name="Yan, Martin (GE Vernova)" userId="1c4640ab-b0a4-47a9-9e0b-70c9c3c142e6" providerId="ADAL" clId="{688BD677-7841-4CC7-AFE2-CB0F88304D9A}" dt="2026-10-10T04:44:09.857" v="649"/>
          <ac:spMkLst>
            <pc:docMk/>
            <pc:sldMk cId="1133643480" sldId="2147472082"/>
            <ac:spMk id="3" creationId="{6D674D20-27A5-3047-A29B-AE3848DEE9B3}"/>
          </ac:spMkLst>
        </pc:spChg>
        <pc:spChg chg="mod">
          <ac:chgData name="Yan, Martin (GE Vernova)" userId="1c4640ab-b0a4-47a9-9e0b-70c9c3c142e6" providerId="ADAL" clId="{688BD677-7841-4CC7-AFE2-CB0F88304D9A}" dt="2026-10-10T19:37:28.660" v="784" actId="14100"/>
          <ac:spMkLst>
            <pc:docMk/>
            <pc:sldMk cId="1133643480" sldId="2147472082"/>
            <ac:spMk id="5" creationId="{C317AF21-67D5-ACF8-98CB-0F07B5AB7AB9}"/>
          </ac:spMkLst>
        </pc:spChg>
        <pc:spChg chg="mod">
          <ac:chgData name="Yan, Martin (GE Vernova)" userId="1c4640ab-b0a4-47a9-9e0b-70c9c3c142e6" providerId="ADAL" clId="{688BD677-7841-4CC7-AFE2-CB0F88304D9A}" dt="2026-10-10T19:43:53.752" v="934" actId="113"/>
          <ac:spMkLst>
            <pc:docMk/>
            <pc:sldMk cId="1133643480" sldId="2147472082"/>
            <ac:spMk id="9" creationId="{38842C26-80C5-D041-4A9F-FF0EA7A47A9D}"/>
          </ac:spMkLst>
        </pc:spChg>
        <pc:spChg chg="mod">
          <ac:chgData name="Yan, Martin (GE Vernova)" userId="1c4640ab-b0a4-47a9-9e0b-70c9c3c142e6" providerId="ADAL" clId="{688BD677-7841-4CC7-AFE2-CB0F88304D9A}" dt="2026-10-14T01:03:25.455" v="3883" actId="6549"/>
          <ac:spMkLst>
            <pc:docMk/>
            <pc:sldMk cId="1133643480" sldId="2147472082"/>
            <ac:spMk id="10" creationId="{4E3F61C0-BF2E-5DD7-1BF2-13521995C789}"/>
          </ac:spMkLst>
        </pc:spChg>
      </pc:sldChg>
      <pc:sldChg chg="addSp delSp modSp add mod">
        <pc:chgData name="Yan, Martin (GE Vernova)" userId="1c4640ab-b0a4-47a9-9e0b-70c9c3c142e6" providerId="ADAL" clId="{688BD677-7841-4CC7-AFE2-CB0F88304D9A}" dt="2026-10-13T18:53:18.191" v="3850" actId="20577"/>
        <pc:sldMkLst>
          <pc:docMk/>
          <pc:sldMk cId="486482502" sldId="2147472083"/>
        </pc:sldMkLst>
        <pc:spChg chg="mod">
          <ac:chgData name="Yan, Martin (GE Vernova)" userId="1c4640ab-b0a4-47a9-9e0b-70c9c3c142e6" providerId="ADAL" clId="{688BD677-7841-4CC7-AFE2-CB0F88304D9A}" dt="2026-10-13T03:36:26.096" v="2286" actId="20577"/>
          <ac:spMkLst>
            <pc:docMk/>
            <pc:sldMk cId="486482502" sldId="2147472083"/>
            <ac:spMk id="5" creationId="{00000000-0000-0000-0000-000000000000}"/>
          </ac:spMkLst>
        </pc:spChg>
        <pc:graphicFrameChg chg="add mod modGraphic">
          <ac:chgData name="Yan, Martin (GE Vernova)" userId="1c4640ab-b0a4-47a9-9e0b-70c9c3c142e6" providerId="ADAL" clId="{688BD677-7841-4CC7-AFE2-CB0F88304D9A}" dt="2026-10-13T18:53:18.191" v="3850" actId="20577"/>
          <ac:graphicFrameMkLst>
            <pc:docMk/>
            <pc:sldMk cId="486482502" sldId="2147472083"/>
            <ac:graphicFrameMk id="7" creationId="{F4C2BF4E-2EC7-DD33-5EFC-768745E2B17A}"/>
          </ac:graphicFrameMkLst>
        </pc:graphicFrameChg>
      </pc:sldChg>
      <pc:sldChg chg="delSp modSp add mod">
        <pc:chgData name="Yan, Martin (GE Vernova)" userId="1c4640ab-b0a4-47a9-9e0b-70c9c3c142e6" providerId="ADAL" clId="{688BD677-7841-4CC7-AFE2-CB0F88304D9A}" dt="2026-10-15T00:31:40.888" v="4878" actId="20577"/>
        <pc:sldMkLst>
          <pc:docMk/>
          <pc:sldMk cId="3226256013" sldId="2147472084"/>
        </pc:sldMkLst>
        <pc:spChg chg="mod">
          <ac:chgData name="Yan, Martin (GE Vernova)" userId="1c4640ab-b0a4-47a9-9e0b-70c9c3c142e6" providerId="ADAL" clId="{688BD677-7841-4CC7-AFE2-CB0F88304D9A}" dt="2026-10-15T00:23:58.180" v="4193" actId="1076"/>
          <ac:spMkLst>
            <pc:docMk/>
            <pc:sldMk cId="3226256013" sldId="2147472084"/>
            <ac:spMk id="2" creationId="{2ADDC58A-85EA-2C4E-A284-9B7340CA7ECF}"/>
          </ac:spMkLst>
        </pc:spChg>
        <pc:spChg chg="mod">
          <ac:chgData name="Yan, Martin (GE Vernova)" userId="1c4640ab-b0a4-47a9-9e0b-70c9c3c142e6" providerId="ADAL" clId="{688BD677-7841-4CC7-AFE2-CB0F88304D9A}" dt="2026-10-15T00:31:40.888" v="4878" actId="20577"/>
          <ac:spMkLst>
            <pc:docMk/>
            <pc:sldMk cId="3226256013" sldId="2147472084"/>
            <ac:spMk id="5" creationId="{C317AF21-67D5-ACF8-98CB-0F07B5AB7AB9}"/>
          </ac:spMkLst>
        </pc:spChg>
        <pc:spChg chg="del">
          <ac:chgData name="Yan, Martin (GE Vernova)" userId="1c4640ab-b0a4-47a9-9e0b-70c9c3c142e6" providerId="ADAL" clId="{688BD677-7841-4CC7-AFE2-CB0F88304D9A}" dt="2026-10-15T00:23:25.568" v="4098" actId="478"/>
          <ac:spMkLst>
            <pc:docMk/>
            <pc:sldMk cId="3226256013" sldId="2147472084"/>
            <ac:spMk id="9" creationId="{38842C26-80C5-D041-4A9F-FF0EA7A47A9D}"/>
          </ac:spMkLst>
        </pc:spChg>
        <pc:spChg chg="del">
          <ac:chgData name="Yan, Martin (GE Vernova)" userId="1c4640ab-b0a4-47a9-9e0b-70c9c3c142e6" providerId="ADAL" clId="{688BD677-7841-4CC7-AFE2-CB0F88304D9A}" dt="2026-10-15T00:23:27.341" v="4099" actId="478"/>
          <ac:spMkLst>
            <pc:docMk/>
            <pc:sldMk cId="3226256013" sldId="2147472084"/>
            <ac:spMk id="10" creationId="{4E3F61C0-BF2E-5DD7-1BF2-13521995C78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10/14/2026</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10/14/2026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 Standard">
    <p:bg>
      <p:bgPr>
        <a:solidFill>
          <a:srgbClr val="005E60"/>
        </a:solidFill>
        <a:effectLst/>
      </p:bgPr>
    </p:bg>
    <p:spTree>
      <p:nvGrpSpPr>
        <p:cNvPr id="1" name=""/>
        <p:cNvGrpSpPr/>
        <p:nvPr/>
      </p:nvGrpSpPr>
      <p:grpSpPr>
        <a:xfrm>
          <a:off x="0" y="0"/>
          <a:ext cx="0" cy="0"/>
          <a:chOff x="0" y="0"/>
          <a:chExt cx="0" cy="0"/>
        </a:xfrm>
      </p:grpSpPr>
      <p:pic>
        <p:nvPicPr>
          <p:cNvPr id="7" name="Picture 6" descr="Text  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3"/>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sz="800">
                <a:solidFill>
                  <a:schemeClr val="tx1"/>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custDataLst>
      <p:tags r:id="rId1"/>
    </p:custDataLst>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 Alternate">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sz="800">
                <a:solidFill>
                  <a:srgbClr val="FAFAFA"/>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  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3"/>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 Light Photo">
    <p:bg>
      <p:bgPr>
        <a:solidFill>
          <a:schemeClr val="tx1"/>
        </a:solidFill>
        <a:effectLst/>
      </p:bgPr>
    </p:bg>
    <p:spTree>
      <p:nvGrpSpPr>
        <p:cNvPr id="1" name=""/>
        <p:cNvGrpSpPr/>
        <p:nvPr/>
      </p:nvGrpSpPr>
      <p:grpSpPr>
        <a:xfrm>
          <a:off x="0" y="0"/>
          <a:ext cx="0" cy="0"/>
          <a:chOff x="0" y="0"/>
          <a:chExt cx="0" cy="0"/>
        </a:xfrm>
      </p:grpSpPr>
      <p:pic>
        <p:nvPicPr>
          <p:cNvPr id="6" name="Picture 5" descr="Text  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3"/>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sz="800">
                <a:solidFill>
                  <a:srgbClr val="212121"/>
                </a:solidFill>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custDataLst>
      <p:tags r:id="rId1"/>
    </p:custDataLst>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Dark Photo">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sz="800">
                <a:solidFill>
                  <a:schemeClr val="tx1"/>
                </a:solidFill>
              </a:defRPr>
            </a:lvl1pPr>
          </a:lstStyle>
          <a:p>
            <a:pPr defTabSz="914126"/>
            <a:r>
              <a:rPr lang="en-US" dirty="0">
                <a:ea typeface="Inter" panose="02000503000000020004" pitchFamily="2" charset="0"/>
              </a:rPr>
              <a:t>© 2025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spc="80"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  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3"/>
          <a:stretch>
            <a:fillRect/>
          </a:stretch>
        </p:blipFill>
        <p:spPr>
          <a:xfrm>
            <a:off x="259641" y="272267"/>
            <a:ext cx="2606040" cy="814067"/>
          </a:xfrm>
          <a:prstGeom prst="rect">
            <a:avLst/>
          </a:prstGeom>
        </p:spPr>
      </p:pic>
    </p:spTree>
    <p:custDataLst>
      <p:tags r:id="rId1"/>
    </p:custDataLst>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  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14E532AD-A6F9-5A73-F9B7-FA1F6B8FBFE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ection — 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  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24D80C1C-4E45-B864-5859-F435E9FC0E8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173964546"/>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Content — Bullet Lis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r>
              <a:t>Use for: bullet lists. Max 5 bullets, &lt;= 12 words each. One idea per slide.</a:t>
            </a:r>
          </a:p>
        </p:txBody>
      </p:sp>
      <p:pic>
        <p:nvPicPr>
          <p:cNvPr id="4" name="Picture 3" descr="Text  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027F9F60-4DFD-5661-B616-5D7B4BD4577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Bullet List +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2" hasCustomPrompt="1"/>
          </p:nvPr>
        </p:nvSpPr>
        <p:spPr>
          <a:xfrm>
            <a:off x="419100" y="889824"/>
            <a:ext cx="11353800" cy="513526"/>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Subtitle — one line, &lt;= 12 words.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Main content. Max 5 bullets, &lt;= 12 words each.</a:t>
            </a:r>
          </a:p>
        </p:txBody>
      </p:sp>
      <p:pic>
        <p:nvPicPr>
          <p:cNvPr id="4" name="Picture 3" descr="Text  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64338C3A-CD7B-4BAF-1E62-943E6B16317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 Two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Left column. Max 4 bullets, &lt;= 10 words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Right column. Max 4 bullets, &lt;= 10 words each.</a:t>
            </a:r>
          </a:p>
        </p:txBody>
      </p:sp>
      <p:pic>
        <p:nvPicPr>
          <p:cNvPr id="4" name="Picture 3" descr="Text  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921D3A7-9FE4-97D1-71B2-4F6872FE43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 Two Column + Subtitl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2"/>
          </p:nvPr>
        </p:nvSpPr>
        <p:spPr>
          <a:xfrm>
            <a:off x="419099"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3"/>
          </p:nvPr>
        </p:nvSpPr>
        <p:spPr>
          <a:xfrm>
            <a:off x="6096000" y="1403350"/>
            <a:ext cx="5394960"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Subtitle &lt;= 12 words. Max 4 bullets per column.</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4"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130EFFA2-C032-FC12-6BC9-48DADE2779EA}"/>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 Two Column Asymmetric">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Supporting detail.</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Max 4 bullets.</a:t>
            </a:r>
          </a:p>
        </p:txBody>
      </p:sp>
      <p:pic>
        <p:nvPicPr>
          <p:cNvPr id="4" name="Picture 3" descr="Text  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E6E1E6A5-8795-C79E-AA38-F1E35F263A9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 Two Column Asymmetric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6345BB7-0EFA-36D5-F2AC-D08AE3806B34}"/>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Two Column Asymmetric 2">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B6006637-4CFF-DA29-70FE-92FAA52065B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Two Column Asymmetric 2 (Ba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Lead idea left, support right. Max 4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  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3C079ABB-4425-2F6A-B71A-F0AFA7248E3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 Thre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1. &lt;= 3 bullets, header &lt;= 4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2. &lt;= 3 bullets.</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3. &lt;= 3 bullets.</a:t>
            </a:r>
          </a:p>
        </p:txBody>
      </p:sp>
      <p:pic>
        <p:nvPicPr>
          <p:cNvPr id="4" name="Picture 3" descr="Text  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02B0394B-12B9-2083-FEB8-141495C18A5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 Three Column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&lt;= 3 bullets per column. Headers &lt;= 4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  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1" name="Footer Placeholder 15">
            <a:extLst>
              <a:ext uri="{FF2B5EF4-FFF2-40B4-BE49-F238E27FC236}">
                <a16:creationId xmlns:a16="http://schemas.microsoft.com/office/drawing/2014/main" id="{6AA19732-5DB3-4171-CEA3-9065A8A6D39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 Four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1 — short header + 1-2 lines.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2.</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3.</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Column 4.</a:t>
            </a:r>
          </a:p>
        </p:txBody>
      </p:sp>
      <p:pic>
        <p:nvPicPr>
          <p:cNvPr id="4" name="Picture 3" descr="Text  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344F9DB3-94A4-4FB1-FCDC-A495244861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 Four Column (Bar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Short header + 1-2 lines per column. No paragraphs.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  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3" name="Footer Placeholder 15">
            <a:extLst>
              <a:ext uri="{FF2B5EF4-FFF2-40B4-BE49-F238E27FC236}">
                <a16:creationId xmlns:a16="http://schemas.microsoft.com/office/drawing/2014/main" id="{27512AE6-0BE8-8360-8C66-96B86F86B9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 Two-Thirds + One-Thir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2"/>
          </p:nvPr>
        </p:nvSpPr>
        <p:spPr>
          <a:xfrm>
            <a:off x="419099" y="1403350"/>
            <a:ext cx="729691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3"/>
          </p:nvPr>
        </p:nvSpPr>
        <p:spPr>
          <a:xfrm>
            <a:off x="8000999" y="1403350"/>
            <a:ext cx="3787133"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Main content left; supporting note right.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  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13DDB821-528C-407C-7414-E650782196B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 Full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r>
              <a:t>Keep text short for contrast. &lt;= 3 lines.</a:t>
            </a:r>
          </a:p>
        </p:txBody>
      </p:sp>
      <p:pic>
        <p:nvPicPr>
          <p:cNvPr id="8" name="Picture 7" descr="Text  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7A278797-887B-4DF5-EB13-48AB84D24D7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Boxed (On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r>
              <a:t>One idea per box. Header + &lt;= 3 bullets each.</a:t>
            </a:r>
          </a:p>
        </p:txBody>
      </p:sp>
      <p:pic>
        <p:nvPicPr>
          <p:cNvPr id="4" name="Picture 3" descr="Text  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3672ABEC-0EDA-22BD-65FE-791E9EE774E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 Boxed (Two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  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8" name="Footer Placeholder 15">
            <a:extLst>
              <a:ext uri="{FF2B5EF4-FFF2-40B4-BE49-F238E27FC236}">
                <a16:creationId xmlns:a16="http://schemas.microsoft.com/office/drawing/2014/main" id="{A3951F52-DC48-A7D4-2824-F5307F064DE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 Boxed (Three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 Boxed (Four Colum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3"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4"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192411F8-CBE6-BB9A-E30E-38F0DC1B4E9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 Boxed (Two Column Asymmetric)">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One idea per box. Header + &lt;= 3 bullets each.</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2"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  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97A2E13F-C618-516D-5AE2-32CF541E5560}"/>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 Standard">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  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r>
              <a:t>Title only (optional short label). No body content.</a:t>
            </a:r>
          </a:p>
        </p:txBody>
      </p:sp>
      <p:sp>
        <p:nvSpPr>
          <p:cNvPr id="4" name="Footer Placeholder 15">
            <a:extLst>
              <a:ext uri="{FF2B5EF4-FFF2-40B4-BE49-F238E27FC236}">
                <a16:creationId xmlns:a16="http://schemas.microsoft.com/office/drawing/2014/main" id="{C38754F8-5FCF-38D3-C751-A906C8F44D7F}"/>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 Alternate">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r>
              <a:t>Title only (optional short label). No body content.</a:t>
            </a:r>
          </a:p>
        </p:txBody>
      </p:sp>
      <p:pic>
        <p:nvPicPr>
          <p:cNvPr id="4" name="Picture 3" descr="Text  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spc="80" baseline="0">
                <a:solidFill>
                  <a:schemeClr val="tx1"/>
                </a:solidFill>
                <a:latin typeface="Sons Condensed Extrabold" panose="02060906060206060203" pitchFamily="18" charset="0"/>
              </a:defRPr>
            </a:lvl1pPr>
          </a:lstStyle>
          <a:p>
            <a:r>
              <a:rPr lang="en-US" dirty="0"/>
              <a:t>CLICK TO EDIT MASTER TITLE STYLE</a:t>
            </a:r>
          </a:p>
        </p:txBody>
      </p:sp>
      <p:sp>
        <p:nvSpPr>
          <p:cNvPr id="2" name="Footer Placeholder 15">
            <a:extLst>
              <a:ext uri="{FF2B5EF4-FFF2-40B4-BE49-F238E27FC236}">
                <a16:creationId xmlns:a16="http://schemas.microsoft.com/office/drawing/2014/main" id="{9B07FCD0-F61D-F52A-E4FA-1E848E1AACCB}"/>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 With Subtitle">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spc="80"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  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r>
              <a:t>Title only (optional short label). No body content.</a:t>
            </a:r>
          </a:p>
        </p:txBody>
      </p:sp>
      <p:sp>
        <p:nvSpPr>
          <p:cNvPr id="7" name="Footer Placeholder 15">
            <a:extLst>
              <a:ext uri="{FF2B5EF4-FFF2-40B4-BE49-F238E27FC236}">
                <a16:creationId xmlns:a16="http://schemas.microsoft.com/office/drawing/2014/main" id="{BD2FB510-466F-A7D9-A9F6-0009FC1704CC}"/>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 Minimal">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  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2" name="Footer Placeholder 15">
            <a:extLst>
              <a:ext uri="{FF2B5EF4-FFF2-40B4-BE49-F238E27FC236}">
                <a16:creationId xmlns:a16="http://schemas.microsoft.com/office/drawing/2014/main" id="{CCAD9BAE-A65C-C726-B402-0C0F4D2519E8}"/>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 — Grid A">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0">
                <a:solidFill>
                  <a:schemeClr val="tx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  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Footer Placeholder 15">
            <a:extLst>
              <a:ext uri="{FF2B5EF4-FFF2-40B4-BE49-F238E27FC236}">
                <a16:creationId xmlns:a16="http://schemas.microsoft.com/office/drawing/2014/main" id="{53311958-D829-0977-08EB-86681C4D7D93}"/>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fographic — Grid B">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spc="80" baseline="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  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FDAC1D1-ACEA-9694-7D4B-F17EC05C01C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am — Presenter Photo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a:t>Click icon to add picture</a:t>
            </a:r>
            <a:endParaRPr lang="en-US" dirty="0"/>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 hasCustomPrompt="1"/>
          </p:nvPr>
        </p:nvSpPr>
        <p:spPr>
          <a:xfrm>
            <a:off x="17145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r>
              <a:t>Photo + name + role per person. Role &lt;= 6 words.</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
          </p:nvPr>
        </p:nvSpPr>
        <p:spPr>
          <a:xfrm>
            <a:off x="5500689"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3"/>
          </p:nvPr>
        </p:nvSpPr>
        <p:spPr>
          <a:xfrm>
            <a:off x="9296400" y="1403350"/>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4"/>
          </p:nvPr>
        </p:nvSpPr>
        <p:spPr>
          <a:xfrm>
            <a:off x="17145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5"/>
          </p:nvPr>
        </p:nvSpPr>
        <p:spPr>
          <a:xfrm>
            <a:off x="5500689"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6"/>
          </p:nvPr>
        </p:nvSpPr>
        <p:spPr>
          <a:xfrm>
            <a:off x="9296400" y="3838584"/>
            <a:ext cx="2194560" cy="1955800"/>
          </a:xfrm>
        </p:spPr>
        <p:txBody>
          <a:bodyPr/>
          <a:lstStyle>
            <a:lvl1pPr>
              <a:spcAft>
                <a:spcPts val="200"/>
              </a:spcAft>
              <a:defRPr sz="1400"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  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Footer Placeholder 15">
            <a:extLst>
              <a:ext uri="{FF2B5EF4-FFF2-40B4-BE49-F238E27FC236}">
                <a16:creationId xmlns:a16="http://schemas.microsoft.com/office/drawing/2014/main" id="{60957192-804A-76BF-781A-6D4D325C408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Media — 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r>
              <a:t>Text. Max 4 bullets. Let the image carry weight.</a:t>
            </a:r>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D8F3FB77-B95C-94D8-83F6-5D2FFF473D28}"/>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edia — 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r>
              <a:t>Text. Max 4 bullets. Let the image carry weight.</a:t>
            </a:r>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
        <p:nvSpPr>
          <p:cNvPr id="7" name="Footer Placeholder 15">
            <a:extLst>
              <a:ext uri="{FF2B5EF4-FFF2-40B4-BE49-F238E27FC236}">
                <a16:creationId xmlns:a16="http://schemas.microsoft.com/office/drawing/2014/main" id="{6260D3A3-2C98-CDF2-9FCC-B98BC57928F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edia — Picture Full Blee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pic>
        <p:nvPicPr>
          <p:cNvPr id="3" name="Picture 2" descr="Text  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2" name="Footer Placeholder 15">
            <a:extLst>
              <a:ext uri="{FF2B5EF4-FFF2-40B4-BE49-F238E27FC236}">
                <a16:creationId xmlns:a16="http://schemas.microsoft.com/office/drawing/2014/main" id="{955F2CDD-730A-6F00-31A5-FBDCF0F3A057}"/>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Compare — Side by Sid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Option B. &lt;= 4 points.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r>
              <a:t>Option A. &lt;= 4 points.</a:t>
            </a:r>
          </a:p>
        </p:txBody>
      </p:sp>
      <p:pic>
        <p:nvPicPr>
          <p:cNvPr id="9" name="Picture 8" descr="Text  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D1063572-DF3F-4D0D-CC1E-65CB62AE3C25}"/>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Compare — Side by Side (Al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r>
              <a:t>Option B. &lt;= 4 points.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Option A. &lt;= 4 points.</a:t>
            </a:r>
          </a:p>
        </p:txBody>
      </p:sp>
      <p:pic>
        <p:nvPicPr>
          <p:cNvPr id="9" name="Picture 8" descr="Text  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4" name="Footer Placeholder 15">
            <a:extLst>
              <a:ext uri="{FF2B5EF4-FFF2-40B4-BE49-F238E27FC236}">
                <a16:creationId xmlns:a16="http://schemas.microsoft.com/office/drawing/2014/main" id="{7480F360-7E53-B0F3-C69A-B610CF1E8DD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 Statement">
    <p:bg>
      <p:bgPr>
        <a:solidFill>
          <a:srgbClr val="005E60"/>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 hasCustomPrompt="1"/>
          </p:nvPr>
        </p:nvSpPr>
        <p:spPr>
          <a:xfrm>
            <a:off x="3048001" y="615950"/>
            <a:ext cx="5494420" cy="5486400"/>
          </a:xfrm>
        </p:spPr>
        <p:txBody>
          <a:bodyPr anchor="t" anchorCtr="0"/>
          <a:lstStyle>
            <a:lvl1pPr marL="0" indent="0">
              <a:lnSpc>
                <a:spcPct val="85000"/>
              </a:lnSpc>
              <a:spcAft>
                <a:spcPts val="1000"/>
              </a:spcAft>
              <a:defRPr sz="5000" cap="all" spc="80"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r>
              <a:t>One statement, &lt;= 30 words. Attribute the source.</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  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5" name="Footer Placeholder 15">
            <a:extLst>
              <a:ext uri="{FF2B5EF4-FFF2-40B4-BE49-F238E27FC236}">
                <a16:creationId xmlns:a16="http://schemas.microsoft.com/office/drawing/2014/main" id="{1329F007-C0C3-3A01-8745-6339F394E6D7}"/>
              </a:ext>
            </a:extLst>
          </p:cNvPr>
          <p:cNvSpPr>
            <a:spLocks noGrp="1"/>
          </p:cNvSpPr>
          <p:nvPr>
            <p:ph type="ftr" sz="quarter" idx="4294967295"/>
          </p:nvPr>
        </p:nvSpPr>
        <p:spPr>
          <a:xfrm>
            <a:off x="419100" y="6492875"/>
            <a:ext cx="10248900" cy="244653"/>
          </a:xfrm>
        </p:spPr>
        <p:txBody>
          <a:bodyPr/>
          <a:lstStyle>
            <a:lvl1pPr>
              <a:defRPr>
                <a:solidFill>
                  <a:schemeClr val="tx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Quote — Statement (Alt)">
    <p:bg>
      <p:bgPr>
        <a:solidFill>
          <a:schemeClr val="tx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 hasCustomPrompt="1"/>
          </p:nvPr>
        </p:nvSpPr>
        <p:spPr>
          <a:xfrm>
            <a:off x="3048000" y="615950"/>
            <a:ext cx="5554979" cy="5486400"/>
          </a:xfrm>
        </p:spPr>
        <p:txBody>
          <a:bodyPr anchor="t" anchorCtr="0"/>
          <a:lstStyle>
            <a:lvl1pPr marL="0" indent="0">
              <a:lnSpc>
                <a:spcPct val="85000"/>
              </a:lnSpc>
              <a:spcAft>
                <a:spcPts val="0"/>
              </a:spcAft>
              <a:defRPr sz="5000" cap="all" spc="80"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r>
              <a:t>One statement, &lt;= 30 words. Attribute the source.</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  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6" name="Footer Placeholder 15">
            <a:extLst>
              <a:ext uri="{FF2B5EF4-FFF2-40B4-BE49-F238E27FC236}">
                <a16:creationId xmlns:a16="http://schemas.microsoft.com/office/drawing/2014/main" id="{D058DE80-2D20-BEDA-3025-4E13FFAADB09}"/>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tats — Three Up">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 hasCustomPrompt="1"/>
          </p:nvPr>
        </p:nvSpPr>
        <p:spPr>
          <a:xfrm>
            <a:off x="419100"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Big number + &lt;= 6-word label each. Max 3 stats.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2"/>
          </p:nvPr>
        </p:nvSpPr>
        <p:spPr>
          <a:xfrm>
            <a:off x="42068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3"/>
          </p:nvPr>
        </p:nvSpPr>
        <p:spPr>
          <a:xfrm>
            <a:off x="7989707"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4" hasCustomPrompt="1"/>
          </p:nvPr>
        </p:nvSpPr>
        <p:spPr>
          <a:xfrm>
            <a:off x="419100" y="2095501"/>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5" hasCustomPrompt="1"/>
          </p:nvPr>
        </p:nvSpPr>
        <p:spPr>
          <a:xfrm>
            <a:off x="420687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6" hasCustomPrompt="1"/>
          </p:nvPr>
        </p:nvSpPr>
        <p:spPr>
          <a:xfrm>
            <a:off x="7985125" y="2095503"/>
            <a:ext cx="3502152" cy="4114798"/>
          </a:xfrm>
        </p:spPr>
        <p:txBody>
          <a:bodyPr/>
          <a:lstStyle>
            <a:lvl1pPr>
              <a:lnSpc>
                <a:spcPct val="85000"/>
              </a:lnSpc>
              <a:spcAft>
                <a:spcPts val="2400"/>
              </a:spcAft>
              <a:defRPr sz="7200" spc="80" baseline="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75B2F3C1-ABC4-8C6F-2C19-1300BBDEB6FB}"/>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s — Three Up (Alt)">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 hasCustomPrompt="1"/>
          </p:nvPr>
        </p:nvSpPr>
        <p:spPr>
          <a:xfrm>
            <a:off x="419100"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r>
              <a:t>Big number + &lt;= 6-word label each. Max 3 stats.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2"/>
          </p:nvPr>
        </p:nvSpPr>
        <p:spPr>
          <a:xfrm>
            <a:off x="42068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3"/>
          </p:nvPr>
        </p:nvSpPr>
        <p:spPr>
          <a:xfrm>
            <a:off x="7989707"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4" hasCustomPrompt="1"/>
          </p:nvPr>
        </p:nvSpPr>
        <p:spPr>
          <a:xfrm>
            <a:off x="419100" y="2095501"/>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5" hasCustomPrompt="1"/>
          </p:nvPr>
        </p:nvSpPr>
        <p:spPr>
          <a:xfrm>
            <a:off x="420687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6" hasCustomPrompt="1"/>
          </p:nvPr>
        </p:nvSpPr>
        <p:spPr>
          <a:xfrm>
            <a:off x="7985125" y="2095503"/>
            <a:ext cx="3502152" cy="4114798"/>
          </a:xfrm>
        </p:spPr>
        <p:txBody>
          <a:bodyPr/>
          <a:lstStyle>
            <a:lvl1pPr>
              <a:lnSpc>
                <a:spcPct val="85000"/>
              </a:lnSpc>
              <a:spcAft>
                <a:spcPts val="2400"/>
              </a:spcAft>
              <a:buClr>
                <a:srgbClr val="C8FF08"/>
              </a:buClr>
              <a:defRPr sz="7200" spc="80" baseline="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  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9" name="Footer Placeholder 15">
            <a:extLst>
              <a:ext uri="{FF2B5EF4-FFF2-40B4-BE49-F238E27FC236}">
                <a16:creationId xmlns:a16="http://schemas.microsoft.com/office/drawing/2014/main" id="{BF60D929-2B8A-C56B-C065-F3BDEBB412AF}"/>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s — Medium + Image">
    <p:bg>
      <p:bgPr>
        <a:solidFill>
          <a:srgbClr val="005E60"/>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spc="80" baseline="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r>
              <a:t>One number + short context line.</a:t>
            </a:r>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2"/>
          </p:nvPr>
        </p:nvSpPr>
        <p:spPr>
          <a:xfrm>
            <a:off x="560675" y="1403350"/>
            <a:ext cx="3502152" cy="692150"/>
          </a:xfrm>
        </p:spPr>
        <p:txBody>
          <a:bodyPr/>
          <a:lstStyle>
            <a:lvl1pPr>
              <a:spcAft>
                <a:spcPts val="0"/>
              </a:spcAft>
              <a:defRPr b="0">
                <a:solidFill>
                  <a:schemeClr val="bg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4" name="Picture 3" descr="Text  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7" name="Footer Placeholder 15">
            <a:extLst>
              <a:ext uri="{FF2B5EF4-FFF2-40B4-BE49-F238E27FC236}">
                <a16:creationId xmlns:a16="http://schemas.microsoft.com/office/drawing/2014/main" id="{A878362A-0DD8-8964-3726-126DE717BA9D}"/>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s — Medium + Image (Alt)">
    <p:bg>
      <p:bgPr>
        <a:solidFill>
          <a:schemeClr val="bg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spc="80" baseline="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r>
              <a:t>One number + short context line.</a:t>
            </a:r>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2"/>
          </p:nvPr>
        </p:nvSpPr>
        <p:spPr>
          <a:xfrm>
            <a:off x="560675" y="1403350"/>
            <a:ext cx="3502152" cy="692150"/>
          </a:xfrm>
        </p:spPr>
        <p:txBody>
          <a:bodyPr/>
          <a:lstStyle>
            <a:lvl1pPr>
              <a:spcAft>
                <a:spcPts val="0"/>
              </a:spcAft>
              <a:defRPr b="0">
                <a:solidFill>
                  <a:srgbClr val="212121"/>
                </a:solidFill>
                <a:latin typeface="Inter Semi Bold" panose="02000703000000020004" pitchFamily="50" charset="0"/>
                <a:ea typeface="Inter Semi Bold" panose="02000703000000020004" pitchFamily="50" charset="0"/>
                <a:cs typeface="Inter Semi Bold" panose="02000703000000020004" pitchFamily="50" charset="0"/>
              </a:defRPr>
            </a:lvl1pPr>
          </a:lstStyle>
          <a:p>
            <a:pPr lvl="0"/>
            <a:r>
              <a:rPr lang="en-US"/>
              <a:t>Click to edit Master text styles</a:t>
            </a:r>
          </a:p>
        </p:txBody>
      </p:sp>
      <p:pic>
        <p:nvPicPr>
          <p:cNvPr id="7" name="Picture 6" descr="Text  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a:t>Click icon to add picture</a:t>
            </a:r>
            <a:endParaRPr lang="en-US" dirty="0"/>
          </a:p>
        </p:txBody>
      </p:sp>
      <p:sp>
        <p:nvSpPr>
          <p:cNvPr id="4" name="Footer Placeholder 15">
            <a:extLst>
              <a:ext uri="{FF2B5EF4-FFF2-40B4-BE49-F238E27FC236}">
                <a16:creationId xmlns:a16="http://schemas.microsoft.com/office/drawing/2014/main" id="{6AE0E5DA-5A63-7DD1-6A29-E797D98A2086}"/>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s — Large Single">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1" hasCustomPrompt="1"/>
          </p:nvPr>
        </p:nvSpPr>
        <p:spPr>
          <a:xfrm>
            <a:off x="429039" y="1983260"/>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t>Single big number + &lt;= 6-word label.</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  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7" name="Footer Placeholder 15">
            <a:extLst>
              <a:ext uri="{FF2B5EF4-FFF2-40B4-BE49-F238E27FC236}">
                <a16:creationId xmlns:a16="http://schemas.microsoft.com/office/drawing/2014/main" id="{445502A3-B17A-C791-33DE-86438C0F5F09}"/>
              </a:ext>
            </a:extLst>
          </p:cNvPr>
          <p:cNvSpPr>
            <a:spLocks noGrp="1"/>
          </p:cNvSpPr>
          <p:nvPr>
            <p:ph type="ftr" sz="quarter" idx="1"/>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tats — Large Single (Alt)">
    <p:bg>
      <p:bgPr>
        <a:solidFill>
          <a:schemeClr val="tx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  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3"/>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1" hasCustomPrompt="1"/>
          </p:nvPr>
        </p:nvSpPr>
        <p:spPr>
          <a:xfrm>
            <a:off x="429039" y="2405291"/>
            <a:ext cx="11353800" cy="4033608"/>
          </a:xfrm>
        </p:spPr>
        <p:txBody>
          <a:bodyPr anchor="t"/>
          <a:lstStyle>
            <a:lvl1pPr>
              <a:lnSpc>
                <a:spcPts val="40000"/>
              </a:lnSpc>
              <a:spcAft>
                <a:spcPts val="0"/>
              </a:spcAft>
              <a:defRPr sz="49600" spc="80" baseline="0">
                <a:solidFill>
                  <a:schemeClr val="bg2"/>
                </a:solidFill>
                <a:latin typeface="Sons Condensed Extrabold" panose="02060906060206060203" pitchFamily="18" charset="0"/>
              </a:defRPr>
            </a:lvl1pPr>
          </a:lstStyle>
          <a:p>
            <a:r>
              <a:t>Single big number + &lt;= 6-word label.</a:t>
            </a:r>
          </a:p>
        </p:txBody>
      </p:sp>
      <p:sp>
        <p:nvSpPr>
          <p:cNvPr id="4" name="Footer Placeholder 15">
            <a:extLst>
              <a:ext uri="{FF2B5EF4-FFF2-40B4-BE49-F238E27FC236}">
                <a16:creationId xmlns:a16="http://schemas.microsoft.com/office/drawing/2014/main" id="{D95993A9-6EF4-EA6D-DD7C-0056E139CA63}"/>
              </a:ext>
            </a:extLst>
          </p:cNvPr>
          <p:cNvSpPr>
            <a:spLocks noGrp="1"/>
          </p:cNvSpPr>
          <p:nvPr>
            <p:ph type="ftr" sz="quarter" idx="1"/>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Closing — Sign-off">
    <p:bg>
      <p:bgRef idx="1001">
        <a:schemeClr val="bg1"/>
      </p:bgRef>
    </p:bg>
    <p:spTree>
      <p:nvGrpSpPr>
        <p:cNvPr id="1" name=""/>
        <p:cNvGrpSpPr/>
        <p:nvPr/>
      </p:nvGrpSpPr>
      <p:grpSpPr>
        <a:xfrm>
          <a:off x="0" y="0"/>
          <a:ext cx="0" cy="0"/>
          <a:chOff x="0" y="0"/>
          <a:chExt cx="0" cy="0"/>
        </a:xfrm>
      </p:grpSpPr>
      <p:pic>
        <p:nvPicPr>
          <p:cNvPr id="3" name="Picture 2" descr="Text  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3"/>
          <a:stretch>
            <a:fillRect/>
          </a:stretch>
        </p:blipFill>
        <p:spPr>
          <a:xfrm>
            <a:off x="2598420" y="2336437"/>
            <a:ext cx="6995160" cy="2185127"/>
          </a:xfrm>
          <a:prstGeom prst="rect">
            <a:avLst/>
          </a:prstGeom>
        </p:spPr>
      </p:pic>
    </p:spTree>
    <p:custDataLst>
      <p:tags r:id="rId1"/>
    </p:custDataLst>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Closing — Sign-off (Alt)">
    <p:bg>
      <p:bgPr>
        <a:solidFill>
          <a:srgbClr val="005E60"/>
        </a:solidFill>
        <a:effectLst/>
      </p:bgPr>
    </p:bg>
    <p:spTree>
      <p:nvGrpSpPr>
        <p:cNvPr id="1" name=""/>
        <p:cNvGrpSpPr/>
        <p:nvPr/>
      </p:nvGrpSpPr>
      <p:grpSpPr>
        <a:xfrm>
          <a:off x="0" y="0"/>
          <a:ext cx="0" cy="0"/>
          <a:chOff x="0" y="0"/>
          <a:chExt cx="0" cy="0"/>
        </a:xfrm>
      </p:grpSpPr>
      <p:pic>
        <p:nvPicPr>
          <p:cNvPr id="2" name="Picture 1" descr="Text  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3"/>
          <a:stretch>
            <a:fillRect/>
          </a:stretch>
        </p:blipFill>
        <p:spPr>
          <a:xfrm>
            <a:off x="2598420" y="2336437"/>
            <a:ext cx="6995161" cy="2185127"/>
          </a:xfrm>
          <a:prstGeom prst="rect">
            <a:avLst/>
          </a:prstGeom>
        </p:spPr>
      </p:pic>
    </p:spTree>
    <p:custDataLst>
      <p:tags r:id="rId1"/>
    </p:custDataLst>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Prompt — Structure (Context / Task / Outpu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CONTEXT — background the model needs. &lt;= 3 lines.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TASK — the single instruction. Be specific.</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OUTPUT — desired format / length / tone.</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Prompt — Before / Aft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2"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r>
              <a:t>AFTER — the improved, specific prompt.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r>
              <a:t>BEFORE — the vague or weak prompt.</a:t>
            </a:r>
          </a:p>
        </p:txBody>
      </p:sp>
      <p:pic>
        <p:nvPicPr>
          <p:cNvPr id="9" name="Picture 8" descr="Text  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10" name="Footer Placeholder 15">
            <a:extLst>
              <a:ext uri="{FF2B5EF4-FFF2-40B4-BE49-F238E27FC236}">
                <a16:creationId xmlns:a16="http://schemas.microsoft.com/office/drawing/2014/main" id="{D1063572-DF3F-4D0D-CC1E-65CB62AE3C25}"/>
              </a:ext>
            </a:extLst>
          </p:cNvPr>
          <p:cNvSpPr>
            <a:spLocks noGrp="1"/>
          </p:cNvSpPr>
          <p:nvPr>
            <p:ph type="ftr" sz="quarter" idx="4294967295"/>
          </p:nvPr>
        </p:nvSpPr>
        <p:spPr>
          <a:xfrm>
            <a:off x="419100" y="6492875"/>
            <a:ext cx="10248900" cy="244653"/>
          </a:xfrm>
        </p:spPr>
        <p:txBody>
          <a:bodyPr/>
          <a:lstStyle>
            <a:lvl1pPr>
              <a:defRPr>
                <a:solidFill>
                  <a:schemeClr val="bg1"/>
                </a:solidFill>
              </a:defRPr>
            </a:lvl1pPr>
          </a:lstStyle>
          <a:p>
            <a:pPr defTabSz="914126"/>
            <a:r>
              <a:rPr lang="en-US" sz="800" dirty="0">
                <a:ea typeface="Inter" panose="02000503000000020004" pitchFamily="2" charset="0"/>
              </a:rPr>
              <a:t>© 2026 GE Vernova and/or its affiliates. All rights reserved.</a:t>
            </a:r>
            <a:endParaRPr lang="en-US" sz="800" dirty="0"/>
          </a:p>
        </p:txBody>
      </p:sp>
    </p:spTree>
    <p:custDataLst>
      <p:tags r:id="rId1"/>
    </p:custDataLst>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Workflow — Three-Step Proces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1 — verb-first action, &lt;= 8 words.</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2 — verb-first action.</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r>
              <a:t>STEP 3 — verb-first action.</a:t>
            </a:r>
          </a:p>
        </p:txBody>
      </p:sp>
      <p:pic>
        <p:nvPicPr>
          <p:cNvPr id="4" name="Picture 3" descr="Text  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02B0394B-12B9-2083-FEB8-141495C18A55}"/>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Workflow — Decision Framewor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A — condition, then outcome.</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2"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B — condition, then outcome.</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3"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r>
              <a:t>IF / OPTION C — condition, then outcome.</a:t>
            </a:r>
          </a:p>
        </p:txBody>
      </p:sp>
      <p:pic>
        <p:nvPicPr>
          <p:cNvPr id="4" name="Picture 3" descr="Text  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3"/>
          <a:stretch>
            <a:fillRect/>
          </a:stretch>
        </p:blipFill>
        <p:spPr>
          <a:xfrm>
            <a:off x="10309860" y="339154"/>
            <a:ext cx="1553486" cy="485273"/>
          </a:xfrm>
          <a:prstGeom prst="rect">
            <a:avLst/>
          </a:prstGeom>
        </p:spPr>
      </p:pic>
      <p:sp>
        <p:nvSpPr>
          <p:cNvPr id="9" name="Footer Placeholder 15">
            <a:extLst>
              <a:ext uri="{FF2B5EF4-FFF2-40B4-BE49-F238E27FC236}">
                <a16:creationId xmlns:a16="http://schemas.microsoft.com/office/drawing/2014/main" id="{BEB8EA9E-A092-E815-FA6C-B16D231FCE7D}"/>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spTree>
    <p:custDataLst>
      <p:tags r:id="rId1"/>
    </p:custDataLst>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305222055"/>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69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a:t>© 2023 GE Vernova and/or its affiliates. All rights reserved.</a:t>
            </a:r>
            <a:endParaRPr lang="en-US" dirty="0"/>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202062634"/>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pPr defTabSz="914126"/>
            <a:r>
              <a:rPr lang="en-US" dirty="0">
                <a:ea typeface="Inter" panose="02000503000000020004" pitchFamily="2" charset="0"/>
              </a:rPr>
              <a:t>© 2026 GE Vernova and/or its affiliates. All rights reserved. </a:t>
            </a:r>
          </a:p>
          <a:p>
            <a:pPr defTabSz="914126"/>
            <a:r>
              <a:rPr lang="en-US" dirty="0">
                <a:ea typeface="Inter" panose="02000503000000020004" pitchFamily="2" charset="0"/>
              </a:rPr>
              <a:t>GE is a trademark of General Electric Company and is used under trademark license.</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745" r:id="rId6"/>
    <p:sldLayoutId id="2147483650" r:id="rId7"/>
    <p:sldLayoutId id="2147483668" r:id="rId8"/>
    <p:sldLayoutId id="2147483664" r:id="rId9"/>
    <p:sldLayoutId id="2147483669" r:id="rId10"/>
    <p:sldLayoutId id="2147483739" r:id="rId11"/>
    <p:sldLayoutId id="2147483731" r:id="rId12"/>
    <p:sldLayoutId id="2147483740" r:id="rId13"/>
    <p:sldLayoutId id="2147483667" r:id="rId14"/>
    <p:sldLayoutId id="2147483738" r:id="rId15"/>
    <p:sldLayoutId id="2147483665" r:id="rId16"/>
    <p:sldLayoutId id="2147483741" r:id="rId17"/>
    <p:sldLayoutId id="2147483666" r:id="rId18"/>
    <p:sldLayoutId id="2147483672" r:id="rId19"/>
    <p:sldLayoutId id="2147483673" r:id="rId20"/>
    <p:sldLayoutId id="2147483674" r:id="rId21"/>
    <p:sldLayoutId id="2147483743" r:id="rId22"/>
    <p:sldLayoutId id="2147483675" r:id="rId23"/>
    <p:sldLayoutId id="2147483676" r:id="rId24"/>
    <p:sldLayoutId id="2147483677" r:id="rId25"/>
    <p:sldLayoutId id="2147483651" r:id="rId26"/>
    <p:sldLayoutId id="2147483715" r:id="rId27"/>
    <p:sldLayoutId id="2147483719" r:id="rId28"/>
    <p:sldLayoutId id="2147483742" r:id="rId29"/>
    <p:sldLayoutId id="2147483701" r:id="rId30"/>
    <p:sldLayoutId id="2147483720" r:id="rId31"/>
    <p:sldLayoutId id="2147483684" r:id="rId32"/>
    <p:sldLayoutId id="2147483685" r:id="rId33"/>
    <p:sldLayoutId id="2147483686" r:id="rId34"/>
    <p:sldLayoutId id="2147483689" r:id="rId35"/>
    <p:sldLayoutId id="2147483687" r:id="rId36"/>
    <p:sldLayoutId id="2147483732" r:id="rId37"/>
    <p:sldLayoutId id="2147483692" r:id="rId38"/>
    <p:sldLayoutId id="2147483726" r:id="rId39"/>
    <p:sldLayoutId id="2147483695" r:id="rId40"/>
    <p:sldLayoutId id="2147483723" r:id="rId41"/>
    <p:sldLayoutId id="2147483697" r:id="rId42"/>
    <p:sldLayoutId id="2147483724" r:id="rId43"/>
    <p:sldLayoutId id="2147483733" r:id="rId44"/>
    <p:sldLayoutId id="2147483734" r:id="rId45"/>
    <p:sldLayoutId id="2147483699" r:id="rId46"/>
    <p:sldLayoutId id="2147483725" r:id="rId47"/>
    <p:sldLayoutId id="2147483746" r:id="rId48"/>
    <p:sldLayoutId id="2147483747" r:id="rId49"/>
    <p:sldLayoutId id="2147483748" r:id="rId50"/>
    <p:sldLayoutId id="2147483749" r:id="rId51"/>
    <p:sldLayoutId id="2147483750" r:id="rId52"/>
    <p:sldLayoutId id="2147483751" r:id="rId53"/>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oleObject" Target="../embeddings/oleObject1.bin"/><Relationship Id="rId7" Type="http://schemas.openxmlformats.org/officeDocument/2006/relationships/image" Target="../media/image6.svg"/><Relationship Id="rId12" Type="http://schemas.openxmlformats.org/officeDocument/2006/relationships/image" Target="../media/image11.svg"/><Relationship Id="rId2" Type="http://schemas.openxmlformats.org/officeDocument/2006/relationships/slideLayout" Target="../slideLayouts/slideLayout52.xml"/><Relationship Id="rId1" Type="http://schemas.openxmlformats.org/officeDocument/2006/relationships/tags" Target="../tags/tag52.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emf"/><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4881DC-58A2-8E18-732E-99389594B1F4}"/>
              </a:ext>
            </a:extLst>
          </p:cNvPr>
          <p:cNvSpPr>
            <a:spLocks noGrp="1"/>
          </p:cNvSpPr>
          <p:nvPr>
            <p:ph type="ftr" sz="quarter" idx="11"/>
          </p:nvPr>
        </p:nvSpPr>
        <p:spPr/>
        <p:txBody>
          <a:bodyPr/>
          <a:lstStyle/>
          <a:p>
            <a:pPr defTabSz="914126"/>
            <a:r>
              <a:rPr lang="en-US" sz="800" dirty="0">
                <a:ea typeface="Inter" panose="02000503000000020004" pitchFamily="2" charset="0"/>
              </a:rPr>
              <a:t>© 2026 GE Vernova and/or its affiliates. All rights reserved. </a:t>
            </a:r>
          </a:p>
          <a:p>
            <a:pPr defTabSz="914126"/>
            <a:r>
              <a:rPr lang="en-US" sz="800" dirty="0">
                <a:ea typeface="Inter" panose="02000503000000020004" pitchFamily="2" charset="0"/>
              </a:rPr>
              <a:t>GE is a trademark of General Electric Company and is used under trademark license.</a:t>
            </a:r>
            <a:endParaRPr lang="en-US" sz="800" dirty="0"/>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p:txBody>
          <a:bodyPr/>
          <a:lstStyle/>
          <a:p>
            <a:r>
              <a:rPr lang="en-US" spc="80" dirty="0"/>
              <a:t>200MW Round-the-clock power plant</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p:txBody>
          <a:bodyPr/>
          <a:lstStyle/>
          <a:p>
            <a:r>
              <a:rPr lang="en-US" dirty="0"/>
              <a:t>2026-10-13</a:t>
            </a:r>
          </a:p>
        </p:txBody>
      </p:sp>
    </p:spTree>
    <p:extLst>
      <p:ext uri="{BB962C8B-B14F-4D97-AF65-F5344CB8AC3E}">
        <p14:creationId xmlns:p14="http://schemas.microsoft.com/office/powerpoint/2010/main" val="3589966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p:txBody>
          <a:bodyPr/>
          <a:lstStyle/>
          <a:p>
            <a:r>
              <a:rPr lang="en-US" dirty="0">
                <a:latin typeface="Calibri" panose="020F0502020204030204" pitchFamily="34" charset="0"/>
                <a:ea typeface="Times New Roman" panose="02020603050405020304" pitchFamily="18" charset="0"/>
              </a:rPr>
              <a:t>REVISIONS</a:t>
            </a:r>
            <a:endParaRPr lang="en-US" dirty="0"/>
          </a:p>
        </p:txBody>
      </p:sp>
      <p:sp>
        <p:nvSpPr>
          <p:cNvPr id="4" name="Text Placeholder 18">
            <a:extLst>
              <a:ext uri="{FF2B5EF4-FFF2-40B4-BE49-F238E27FC236}">
                <a16:creationId xmlns:a16="http://schemas.microsoft.com/office/drawing/2014/main" id="{6E747346-DD00-A2C7-C64C-BA9BA6BEB83D}"/>
              </a:ext>
            </a:extLst>
          </p:cNvPr>
          <p:cNvSpPr txBox="1">
            <a:spLocks/>
          </p:cNvSpPr>
          <p:nvPr/>
        </p:nvSpPr>
        <p:spPr>
          <a:xfrm>
            <a:off x="5079723" y="2036152"/>
            <a:ext cx="6426988" cy="3763231"/>
          </a:xfrm>
          <a:prstGeom prst="rect">
            <a:avLst/>
          </a:prstGeom>
        </p:spPr>
        <p:txBody>
          <a:bodyPr lIns="0" tIns="0" rIns="0" bIns="0" anchor="t"/>
          <a:lstStyle>
            <a:lvl1pPr marL="0" algn="l">
              <a:lnSpc>
                <a:spcPct val="100000"/>
              </a:lnSpc>
              <a:spcBef>
                <a:spcPts val="728"/>
              </a:spcBef>
              <a:defRPr lang="en-US" sz="970" b="0">
                <a:solidFill>
                  <a:srgbClr val="212121"/>
                </a:solidFill>
                <a:latin typeface="Inter" panose="02000503000000020004" pitchFamily="2" charset="0"/>
                <a:ea typeface="+mn-ea"/>
                <a:cs typeface="Arial" panose="020B0604020202020204" pitchFamily="34" charset="0"/>
              </a:defRPr>
            </a:lvl1pPr>
            <a:lvl2pPr marL="277200">
              <a:defRPr>
                <a:latin typeface="+mn-lt"/>
                <a:ea typeface="+mn-ea"/>
                <a:cs typeface="+mn-cs"/>
              </a:defRPr>
            </a:lvl2pPr>
            <a:lvl3pPr marL="554401">
              <a:defRPr>
                <a:latin typeface="+mn-lt"/>
                <a:ea typeface="+mn-ea"/>
                <a:cs typeface="+mn-cs"/>
              </a:defRPr>
            </a:lvl3pPr>
            <a:lvl4pPr marL="831601">
              <a:defRPr>
                <a:latin typeface="+mn-lt"/>
                <a:ea typeface="+mn-ea"/>
                <a:cs typeface="+mn-cs"/>
              </a:defRPr>
            </a:lvl4pPr>
            <a:lvl5pPr marL="1108801">
              <a:defRPr>
                <a:latin typeface="+mn-lt"/>
                <a:ea typeface="+mn-ea"/>
                <a:cs typeface="+mn-cs"/>
              </a:defRPr>
            </a:lvl5pPr>
            <a:lvl6pPr marL="1386002">
              <a:defRPr>
                <a:latin typeface="+mn-lt"/>
                <a:ea typeface="+mn-ea"/>
                <a:cs typeface="+mn-cs"/>
              </a:defRPr>
            </a:lvl6pPr>
            <a:lvl7pPr marL="1663202">
              <a:defRPr>
                <a:latin typeface="+mn-lt"/>
                <a:ea typeface="+mn-ea"/>
                <a:cs typeface="+mn-cs"/>
              </a:defRPr>
            </a:lvl7pPr>
            <a:lvl8pPr marL="1940403">
              <a:defRPr>
                <a:latin typeface="+mn-lt"/>
                <a:ea typeface="+mn-ea"/>
                <a:cs typeface="+mn-cs"/>
              </a:defRPr>
            </a:lvl8pPr>
            <a:lvl9pPr marL="2217603">
              <a:defRPr>
                <a:latin typeface="+mn-lt"/>
                <a:ea typeface="+mn-ea"/>
                <a:cs typeface="+mn-cs"/>
              </a:defRPr>
            </a:lvl9pPr>
          </a:lstStyle>
          <a:p>
            <a:pPr>
              <a:spcBef>
                <a:spcPts val="0"/>
              </a:spcBef>
            </a:pPr>
            <a:endParaRPr lang="en-US" sz="1300" dirty="0">
              <a:ea typeface="Inter" panose="02000503000000020004" pitchFamily="2" charset="0"/>
            </a:endParaRPr>
          </a:p>
        </p:txBody>
      </p:sp>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p:txBody>
          <a:bodyPr/>
          <a:lstStyle/>
          <a:p>
            <a:fld id="{7A7A97EF-C944-4447-B862-B593E9B4A0FF}" type="slidenum">
              <a:rPr lang="en-US" smtClean="0"/>
              <a:pPr/>
              <a:t>2</a:t>
            </a:fld>
            <a:endParaRPr lang="en-US" dirty="0"/>
          </a:p>
        </p:txBody>
      </p:sp>
      <p:graphicFrame>
        <p:nvGraphicFramePr>
          <p:cNvPr id="7" name="Table 6">
            <a:extLst>
              <a:ext uri="{FF2B5EF4-FFF2-40B4-BE49-F238E27FC236}">
                <a16:creationId xmlns:a16="http://schemas.microsoft.com/office/drawing/2014/main" id="{F4C2BF4E-2EC7-DD33-5EFC-768745E2B17A}"/>
              </a:ext>
            </a:extLst>
          </p:cNvPr>
          <p:cNvGraphicFramePr>
            <a:graphicFrameLocks noGrp="1"/>
          </p:cNvGraphicFramePr>
          <p:nvPr>
            <p:extLst>
              <p:ext uri="{D42A27DB-BD31-4B8C-83A1-F6EECF244321}">
                <p14:modId xmlns:p14="http://schemas.microsoft.com/office/powerpoint/2010/main" val="2351286929"/>
              </p:ext>
            </p:extLst>
          </p:nvPr>
        </p:nvGraphicFramePr>
        <p:xfrm>
          <a:off x="1015722" y="1342660"/>
          <a:ext cx="10206460" cy="1320800"/>
        </p:xfrm>
        <a:graphic>
          <a:graphicData uri="http://schemas.openxmlformats.org/drawingml/2006/table">
            <a:tbl>
              <a:tblPr firstRow="1" bandRow="1">
                <a:tableStyleId>{5C22544A-7EE6-4342-B048-85BDC9FD1C3A}</a:tableStyleId>
              </a:tblPr>
              <a:tblGrid>
                <a:gridCol w="1942631">
                  <a:extLst>
                    <a:ext uri="{9D8B030D-6E8A-4147-A177-3AD203B41FA5}">
                      <a16:colId xmlns:a16="http://schemas.microsoft.com/office/drawing/2014/main" val="1757871190"/>
                    </a:ext>
                  </a:extLst>
                </a:gridCol>
                <a:gridCol w="8263829">
                  <a:extLst>
                    <a:ext uri="{9D8B030D-6E8A-4147-A177-3AD203B41FA5}">
                      <a16:colId xmlns:a16="http://schemas.microsoft.com/office/drawing/2014/main" val="3078416782"/>
                    </a:ext>
                  </a:extLst>
                </a:gridCol>
              </a:tblGrid>
              <a:tr h="370840">
                <a:tc>
                  <a:txBody>
                    <a:bodyPr/>
                    <a:lstStyle/>
                    <a:p>
                      <a:pPr algn="ctr"/>
                      <a:r>
                        <a:rPr lang="en-US" sz="1600" dirty="0"/>
                        <a:t>Date</a:t>
                      </a:r>
                    </a:p>
                  </a:txBody>
                  <a:tcPr/>
                </a:tc>
                <a:tc>
                  <a:txBody>
                    <a:bodyPr/>
                    <a:lstStyle/>
                    <a:p>
                      <a:pPr algn="ctr"/>
                      <a:r>
                        <a:rPr lang="en-US" sz="1600" dirty="0"/>
                        <a:t>Note</a:t>
                      </a:r>
                    </a:p>
                  </a:txBody>
                  <a:tcPr/>
                </a:tc>
                <a:extLst>
                  <a:ext uri="{0D108BD9-81ED-4DB2-BD59-A6C34878D82A}">
                    <a16:rowId xmlns:a16="http://schemas.microsoft.com/office/drawing/2014/main" val="2016263448"/>
                  </a:ext>
                </a:extLst>
              </a:tr>
              <a:tr h="370840">
                <a:tc>
                  <a:txBody>
                    <a:bodyPr/>
                    <a:lstStyle/>
                    <a:p>
                      <a:r>
                        <a:rPr lang="en-US" sz="1600" dirty="0"/>
                        <a:t>2026-10-13</a:t>
                      </a:r>
                    </a:p>
                  </a:txBody>
                  <a:tcPr/>
                </a:tc>
                <a:tc>
                  <a:txBody>
                    <a:bodyPr/>
                    <a:lstStyle/>
                    <a:p>
                      <a:r>
                        <a:rPr lang="en-US" sz="1600" dirty="0"/>
                        <a:t>1</a:t>
                      </a:r>
                      <a:r>
                        <a:rPr lang="en-US" sz="1600" baseline="30000" dirty="0"/>
                        <a:t>st</a:t>
                      </a:r>
                      <a:r>
                        <a:rPr lang="en-US" sz="1600" dirty="0"/>
                        <a:t> version, with Charu’s CAPEX values ($1600/</a:t>
                      </a:r>
                      <a:r>
                        <a:rPr lang="en-US" sz="1600" dirty="0" err="1"/>
                        <a:t>kW</a:t>
                      </a:r>
                      <a:r>
                        <a:rPr lang="en-US" sz="1600" baseline="-25000" dirty="0" err="1"/>
                        <a:t>ac</a:t>
                      </a:r>
                      <a:r>
                        <a:rPr lang="en-US" sz="1600" dirty="0"/>
                        <a:t> for Solar, $2000/kW for Wind, $2500/kW for 7HA, $3000 for LM2500). </a:t>
                      </a:r>
                    </a:p>
                  </a:txBody>
                  <a:tcPr/>
                </a:tc>
                <a:extLst>
                  <a:ext uri="{0D108BD9-81ED-4DB2-BD59-A6C34878D82A}">
                    <a16:rowId xmlns:a16="http://schemas.microsoft.com/office/drawing/2014/main" val="526040473"/>
                  </a:ext>
                </a:extLst>
              </a:tr>
              <a:tr h="370840">
                <a:tc>
                  <a:txBody>
                    <a:bodyPr/>
                    <a:lstStyle/>
                    <a:p>
                      <a:endParaRPr lang="en-US" sz="1600" dirty="0"/>
                    </a:p>
                  </a:txBody>
                  <a:tcPr/>
                </a:tc>
                <a:tc>
                  <a:txBody>
                    <a:bodyPr/>
                    <a:lstStyle/>
                    <a:p>
                      <a:endParaRPr lang="en-US" sz="1600" dirty="0"/>
                    </a:p>
                  </a:txBody>
                  <a:tcPr/>
                </a:tc>
                <a:extLst>
                  <a:ext uri="{0D108BD9-81ED-4DB2-BD59-A6C34878D82A}">
                    <a16:rowId xmlns:a16="http://schemas.microsoft.com/office/drawing/2014/main" val="2180454179"/>
                  </a:ext>
                </a:extLst>
              </a:tr>
            </a:tbl>
          </a:graphicData>
        </a:graphic>
      </p:graphicFrame>
    </p:spTree>
    <p:extLst>
      <p:ext uri="{BB962C8B-B14F-4D97-AF65-F5344CB8AC3E}">
        <p14:creationId xmlns:p14="http://schemas.microsoft.com/office/powerpoint/2010/main" val="486482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p:txBody>
          <a:bodyPr/>
          <a:lstStyle/>
          <a:p>
            <a:r>
              <a:rPr lang="en-US" dirty="0">
                <a:latin typeface="Calibri" panose="020F0502020204030204" pitchFamily="34" charset="0"/>
                <a:ea typeface="Times New Roman" panose="02020603050405020304" pitchFamily="18" charset="0"/>
              </a:rPr>
              <a:t>DISCLAIMER NOTICE </a:t>
            </a:r>
            <a:endParaRPr lang="en-US" dirty="0"/>
          </a:p>
        </p:txBody>
      </p:sp>
      <p:sp>
        <p:nvSpPr>
          <p:cNvPr id="19" name="Text Placeholder 18">
            <a:extLst>
              <a:ext uri="{FF2B5EF4-FFF2-40B4-BE49-F238E27FC236}">
                <a16:creationId xmlns:a16="http://schemas.microsoft.com/office/drawing/2014/main" id="{FC272D54-E7BC-497C-AEAB-F28088FA84A3}"/>
              </a:ext>
            </a:extLst>
          </p:cNvPr>
          <p:cNvSpPr>
            <a:spLocks noGrp="1"/>
          </p:cNvSpPr>
          <p:nvPr>
            <p:ph idx="1"/>
          </p:nvPr>
        </p:nvSpPr>
        <p:spPr>
          <a:xfrm>
            <a:off x="470807" y="1058617"/>
            <a:ext cx="11250386" cy="4806950"/>
          </a:xfrm>
        </p:spPr>
        <p:txBody>
          <a:bodyPr/>
          <a:lstStyle/>
          <a:p>
            <a:pPr marL="285750" indent="-285750">
              <a:buFont typeface="Arial" panose="020B0604020202020204" pitchFamily="34" charset="0"/>
              <a:buChar char="•"/>
            </a:pPr>
            <a:r>
              <a:rPr lang="en-US" b="0" dirty="0"/>
              <a:t>This study is based on plant hourly plant operation simulation. </a:t>
            </a:r>
          </a:p>
          <a:p>
            <a:pPr marL="285750" indent="-285750">
              <a:buFont typeface="Arial" panose="020B0604020202020204" pitchFamily="34" charset="0"/>
              <a:buChar char="•"/>
            </a:pPr>
            <a:r>
              <a:rPr lang="en-US" b="0" dirty="0"/>
              <a:t>This study is not a substitute for a power system analysis. </a:t>
            </a:r>
          </a:p>
          <a:p>
            <a:pPr marL="285750" indent="-285750">
              <a:buFont typeface="Arial" panose="020B0604020202020204" pitchFamily="34" charset="0"/>
              <a:buChar char="•"/>
            </a:pPr>
            <a:r>
              <a:rPr lang="en-US" b="0" dirty="0"/>
              <a:t>This study is not a substitute for Wind Resource Analysis (WRA). </a:t>
            </a:r>
          </a:p>
          <a:p>
            <a:pPr marL="285750" indent="-285750">
              <a:buFont typeface="Arial" panose="020B0604020202020204" pitchFamily="34" charset="0"/>
              <a:buChar char="•"/>
            </a:pPr>
            <a:r>
              <a:rPr lang="en-US" dirty="0"/>
              <a:t>Equipment/system availability calculation is out of the scope for this study. </a:t>
            </a:r>
          </a:p>
          <a:p>
            <a:pPr marL="285750" indent="-285750">
              <a:buFont typeface="Arial" panose="020B0604020202020204" pitchFamily="34" charset="0"/>
              <a:buChar char="•"/>
            </a:pPr>
            <a:r>
              <a:rPr lang="en-US" b="0" dirty="0"/>
              <a:t>Redundant </a:t>
            </a:r>
            <a:r>
              <a:rPr lang="en-US" dirty="0"/>
              <a:t>equipment unit calculation is out of the scope for this study. </a:t>
            </a:r>
          </a:p>
          <a:p>
            <a:pPr marL="285750" indent="-285750">
              <a:buFont typeface="Arial" panose="020B0604020202020204" pitchFamily="34" charset="0"/>
              <a:buChar char="•"/>
            </a:pPr>
            <a:r>
              <a:rPr lang="en-US" dirty="0"/>
              <a:t>The study is limited to evaluate maximum 2 different types of gas turbines together in individual configuration. </a:t>
            </a:r>
            <a:endParaRPr lang="en-US" b="0" dirty="0"/>
          </a:p>
          <a:p>
            <a:pPr marL="285750" indent="-285750">
              <a:buFont typeface="Arial" panose="020B0604020202020204" pitchFamily="34" charset="0"/>
              <a:buChar char="•"/>
            </a:pPr>
            <a:r>
              <a:rPr lang="en-US" b="0" dirty="0"/>
              <a:t>This study is not binding; and does not create any obligations on the part of GEV company or any of its affiliates. The recommended products or system design and budgetary pricing,  contained in this Study, are subject to change, including, without limitation, as additional information comes to the attention of GEV.</a:t>
            </a:r>
          </a:p>
        </p:txBody>
      </p:sp>
      <p:sp>
        <p:nvSpPr>
          <p:cNvPr id="4" name="Text Placeholder 18">
            <a:extLst>
              <a:ext uri="{FF2B5EF4-FFF2-40B4-BE49-F238E27FC236}">
                <a16:creationId xmlns:a16="http://schemas.microsoft.com/office/drawing/2014/main" id="{6E747346-DD00-A2C7-C64C-BA9BA6BEB83D}"/>
              </a:ext>
            </a:extLst>
          </p:cNvPr>
          <p:cNvSpPr txBox="1">
            <a:spLocks/>
          </p:cNvSpPr>
          <p:nvPr/>
        </p:nvSpPr>
        <p:spPr>
          <a:xfrm>
            <a:off x="5079723" y="2036152"/>
            <a:ext cx="6426988" cy="3763231"/>
          </a:xfrm>
          <a:prstGeom prst="rect">
            <a:avLst/>
          </a:prstGeom>
        </p:spPr>
        <p:txBody>
          <a:bodyPr lIns="0" tIns="0" rIns="0" bIns="0" anchor="t"/>
          <a:lstStyle>
            <a:lvl1pPr marL="0" algn="l">
              <a:lnSpc>
                <a:spcPct val="100000"/>
              </a:lnSpc>
              <a:spcBef>
                <a:spcPts val="728"/>
              </a:spcBef>
              <a:defRPr lang="en-US" sz="970" b="0">
                <a:solidFill>
                  <a:srgbClr val="212121"/>
                </a:solidFill>
                <a:latin typeface="Inter" panose="02000503000000020004" pitchFamily="2" charset="0"/>
                <a:ea typeface="+mn-ea"/>
                <a:cs typeface="Arial" panose="020B0604020202020204" pitchFamily="34" charset="0"/>
              </a:defRPr>
            </a:lvl1pPr>
            <a:lvl2pPr marL="277200">
              <a:defRPr>
                <a:latin typeface="+mn-lt"/>
                <a:ea typeface="+mn-ea"/>
                <a:cs typeface="+mn-cs"/>
              </a:defRPr>
            </a:lvl2pPr>
            <a:lvl3pPr marL="554401">
              <a:defRPr>
                <a:latin typeface="+mn-lt"/>
                <a:ea typeface="+mn-ea"/>
                <a:cs typeface="+mn-cs"/>
              </a:defRPr>
            </a:lvl3pPr>
            <a:lvl4pPr marL="831601">
              <a:defRPr>
                <a:latin typeface="+mn-lt"/>
                <a:ea typeface="+mn-ea"/>
                <a:cs typeface="+mn-cs"/>
              </a:defRPr>
            </a:lvl4pPr>
            <a:lvl5pPr marL="1108801">
              <a:defRPr>
                <a:latin typeface="+mn-lt"/>
                <a:ea typeface="+mn-ea"/>
                <a:cs typeface="+mn-cs"/>
              </a:defRPr>
            </a:lvl5pPr>
            <a:lvl6pPr marL="1386002">
              <a:defRPr>
                <a:latin typeface="+mn-lt"/>
                <a:ea typeface="+mn-ea"/>
                <a:cs typeface="+mn-cs"/>
              </a:defRPr>
            </a:lvl6pPr>
            <a:lvl7pPr marL="1663202">
              <a:defRPr>
                <a:latin typeface="+mn-lt"/>
                <a:ea typeface="+mn-ea"/>
                <a:cs typeface="+mn-cs"/>
              </a:defRPr>
            </a:lvl7pPr>
            <a:lvl8pPr marL="1940403">
              <a:defRPr>
                <a:latin typeface="+mn-lt"/>
                <a:ea typeface="+mn-ea"/>
                <a:cs typeface="+mn-cs"/>
              </a:defRPr>
            </a:lvl8pPr>
            <a:lvl9pPr marL="2217603">
              <a:defRPr>
                <a:latin typeface="+mn-lt"/>
                <a:ea typeface="+mn-ea"/>
                <a:cs typeface="+mn-cs"/>
              </a:defRPr>
            </a:lvl9pPr>
          </a:lstStyle>
          <a:p>
            <a:pPr>
              <a:spcBef>
                <a:spcPts val="0"/>
              </a:spcBef>
            </a:pPr>
            <a:endParaRPr lang="en-US" sz="1300" dirty="0">
              <a:ea typeface="Inter" panose="02000503000000020004" pitchFamily="2" charset="0"/>
            </a:endParaRPr>
          </a:p>
        </p:txBody>
      </p:sp>
      <p:sp>
        <p:nvSpPr>
          <p:cNvPr id="16" name="Footer Placeholder 15">
            <a:extLst>
              <a:ext uri="{FF2B5EF4-FFF2-40B4-BE49-F238E27FC236}">
                <a16:creationId xmlns:a16="http://schemas.microsoft.com/office/drawing/2014/main" id="{1DDC1C9A-2D5E-61CC-8D37-D3758746096E}"/>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18" name="Slide Number Placeholder 17">
            <a:extLst>
              <a:ext uri="{FF2B5EF4-FFF2-40B4-BE49-F238E27FC236}">
                <a16:creationId xmlns:a16="http://schemas.microsoft.com/office/drawing/2014/main" id="{C771F488-CC81-D9C8-AC62-3416C9886456}"/>
              </a:ext>
            </a:extLst>
          </p:cNvPr>
          <p:cNvSpPr>
            <a:spLocks noGrp="1"/>
          </p:cNvSpPr>
          <p:nvPr>
            <p:ph type="sldNum" sz="quarter" idx="12"/>
          </p:nvPr>
        </p:nvSpPr>
        <p:spPr/>
        <p:txBody>
          <a:bodyPr/>
          <a:lstStyle/>
          <a:p>
            <a:fld id="{7A7A97EF-C944-4447-B862-B593E9B4A0FF}" type="slidenum">
              <a:rPr lang="en-US" smtClean="0"/>
              <a:pPr/>
              <a:t>3</a:t>
            </a:fld>
            <a:endParaRPr lang="en-US" dirty="0"/>
          </a:p>
        </p:txBody>
      </p:sp>
      <p:sp>
        <p:nvSpPr>
          <p:cNvPr id="3" name="TextBox 2">
            <a:extLst>
              <a:ext uri="{FF2B5EF4-FFF2-40B4-BE49-F238E27FC236}">
                <a16:creationId xmlns:a16="http://schemas.microsoft.com/office/drawing/2014/main" id="{33C0ED09-E69A-CDDA-8EFE-3E4B233E1B34}"/>
              </a:ext>
            </a:extLst>
          </p:cNvPr>
          <p:cNvSpPr txBox="1"/>
          <p:nvPr/>
        </p:nvSpPr>
        <p:spPr>
          <a:xfrm>
            <a:off x="715545" y="4285013"/>
            <a:ext cx="8937812" cy="1613646"/>
          </a:xfrm>
          <a:prstGeom prst="rect">
            <a:avLst/>
          </a:prstGeom>
          <a:noFill/>
        </p:spPr>
        <p:txBody>
          <a:bodyPr wrap="square" lIns="0" tIns="0" rIns="0" bIns="0" rtlCol="0">
            <a:noAutofit/>
          </a:bodyPr>
          <a:lstStyle/>
          <a:p>
            <a:pPr algn="l">
              <a:spcAft>
                <a:spcPts val="600"/>
              </a:spcAft>
            </a:pPr>
            <a:r>
              <a:rPr lang="en-US" sz="1600" dirty="0"/>
              <a:t>Load Compliance Factor (LCF)</a:t>
            </a:r>
          </a:p>
          <a:p>
            <a:pPr marL="285750" indent="-285750" algn="l">
              <a:spcAft>
                <a:spcPts val="600"/>
              </a:spcAft>
              <a:buFont typeface="Arial" panose="020B0604020202020204" pitchFamily="34" charset="0"/>
              <a:buChar char="•"/>
            </a:pPr>
            <a:r>
              <a:rPr lang="en-US" sz="1600" dirty="0"/>
              <a:t>For individual hour:</a:t>
            </a:r>
          </a:p>
          <a:p>
            <a:pPr marL="742950" lvl="1" indent="-285750">
              <a:spcAft>
                <a:spcPts val="600"/>
              </a:spcAft>
              <a:buFont typeface="Arial" panose="020B0604020202020204" pitchFamily="34" charset="0"/>
              <a:buChar char="•"/>
            </a:pPr>
            <a:r>
              <a:rPr lang="en-US" sz="1600" dirty="0"/>
              <a:t>If plant output exactly meets load demand, LCF=1.</a:t>
            </a:r>
          </a:p>
          <a:p>
            <a:pPr marL="742950" lvl="1" indent="-285750">
              <a:spcAft>
                <a:spcPts val="600"/>
              </a:spcAft>
              <a:buFont typeface="Arial" panose="020B0604020202020204" pitchFamily="34" charset="0"/>
              <a:buChar char="•"/>
            </a:pPr>
            <a:r>
              <a:rPr lang="en-US" sz="1600" dirty="0"/>
              <a:t>If plant output fails to meet load demand, LCF =0. </a:t>
            </a:r>
          </a:p>
          <a:p>
            <a:pPr marL="285750" indent="-285750" algn="l">
              <a:spcAft>
                <a:spcPts val="600"/>
              </a:spcAft>
              <a:buFont typeface="Arial" panose="020B0604020202020204" pitchFamily="34" charset="0"/>
              <a:buChar char="•"/>
            </a:pPr>
            <a:r>
              <a:rPr lang="en-US" sz="1600" dirty="0"/>
              <a:t>Average a year’s 8760 hours’ LCF for the year to get annual LCF. </a:t>
            </a:r>
          </a:p>
        </p:txBody>
      </p:sp>
    </p:spTree>
    <p:extLst>
      <p:ext uri="{BB962C8B-B14F-4D97-AF65-F5344CB8AC3E}">
        <p14:creationId xmlns:p14="http://schemas.microsoft.com/office/powerpoint/2010/main" val="956078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B6652-2AC2-F6B5-CDCC-F7CEF830E515}"/>
            </a:ext>
          </a:extLst>
        </p:cNvPr>
        <p:cNvGrpSpPr/>
        <p:nvPr/>
      </p:nvGrpSpPr>
      <p:grpSpPr>
        <a:xfrm>
          <a:off x="0" y="0"/>
          <a:ext cx="0" cy="0"/>
          <a:chOff x="0" y="0"/>
          <a:chExt cx="0" cy="0"/>
        </a:xfrm>
      </p:grpSpPr>
      <p:sp>
        <p:nvSpPr>
          <p:cNvPr id="200" name="Rectangle 199">
            <a:extLst>
              <a:ext uri="{FF2B5EF4-FFF2-40B4-BE49-F238E27FC236}">
                <a16:creationId xmlns:a16="http://schemas.microsoft.com/office/drawing/2014/main" id="{332E69BD-42B4-111F-8273-BC38FE2C9113}"/>
              </a:ext>
            </a:extLst>
          </p:cNvPr>
          <p:cNvSpPr/>
          <p:nvPr/>
        </p:nvSpPr>
        <p:spPr>
          <a:xfrm>
            <a:off x="2429485" y="2052888"/>
            <a:ext cx="99062" cy="423587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graphicFrame>
        <p:nvGraphicFramePr>
          <p:cNvPr id="6" name="think-cell data - do not delete" hidden="1">
            <a:extLst>
              <a:ext uri="{FF2B5EF4-FFF2-40B4-BE49-F238E27FC236}">
                <a16:creationId xmlns:a16="http://schemas.microsoft.com/office/drawing/2014/main" id="{FB01E448-F633-F315-82F6-770642B6E2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FB01E448-F633-F315-82F6-770642B6E2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ooter Placeholder 2">
            <a:extLst>
              <a:ext uri="{FF2B5EF4-FFF2-40B4-BE49-F238E27FC236}">
                <a16:creationId xmlns:a16="http://schemas.microsoft.com/office/drawing/2014/main" id="{C994F749-CB98-EB44-A0CA-1B118019B392}"/>
              </a:ext>
            </a:extLst>
          </p:cNvPr>
          <p:cNvSpPr>
            <a:spLocks noGrp="1"/>
          </p:cNvSpPr>
          <p:nvPr>
            <p:ph type="ftr" sz="quarter" idx="11"/>
          </p:nvPr>
        </p:nvSpPr>
        <p:spPr>
          <a:xfrm>
            <a:off x="419100" y="6492875"/>
            <a:ext cx="3612938" cy="244653"/>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dirty="0"/>
              <a:t>© 2025 GE Vernova and/or its affiliates. All rights reserved. Confidential. Not to be copied, reproduced or distributed outside of GE Vernova without prior approval. </a:t>
            </a:r>
          </a:p>
        </p:txBody>
      </p:sp>
      <p:sp>
        <p:nvSpPr>
          <p:cNvPr id="4" name="Slide Number Placeholder 3">
            <a:extLst>
              <a:ext uri="{FF2B5EF4-FFF2-40B4-BE49-F238E27FC236}">
                <a16:creationId xmlns:a16="http://schemas.microsoft.com/office/drawing/2014/main" id="{8A4B343F-5AE3-9D97-1253-2F6C9EA893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7A97EF-C944-4447-B862-B593E9B4A0FF}" type="slidenum">
              <a:rPr kumimoji="0" lang="en-US" sz="800" b="0" i="0" u="none" strike="noStrike" kern="1200" cap="none" spc="0" normalizeH="0" baseline="0" noProof="0" smtClean="0">
                <a:ln>
                  <a:noFill/>
                </a:ln>
                <a:solidFill>
                  <a:srgbClr val="212121"/>
                </a:solidFill>
                <a:effectLst/>
                <a:uLnTx/>
                <a:uFillTx/>
                <a:latin typeface="Inter" panose="02000503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dirty="0">
              <a:ln>
                <a:noFill/>
              </a:ln>
              <a:solidFill>
                <a:srgbClr val="212121"/>
              </a:solidFill>
              <a:effectLst/>
              <a:uLnTx/>
              <a:uFillTx/>
              <a:latin typeface="Inter" panose="02000503000000020004" pitchFamily="2" charset="0"/>
              <a:ea typeface="+mn-ea"/>
              <a:cs typeface="+mn-cs"/>
            </a:endParaRPr>
          </a:p>
        </p:txBody>
      </p:sp>
      <p:sp>
        <p:nvSpPr>
          <p:cNvPr id="2" name="Title 1">
            <a:extLst>
              <a:ext uri="{FF2B5EF4-FFF2-40B4-BE49-F238E27FC236}">
                <a16:creationId xmlns:a16="http://schemas.microsoft.com/office/drawing/2014/main" id="{71635DEA-9C99-F664-A217-47B73607CC5A}"/>
              </a:ext>
            </a:extLst>
          </p:cNvPr>
          <p:cNvSpPr>
            <a:spLocks noGrp="1"/>
          </p:cNvSpPr>
          <p:nvPr>
            <p:ph type="title"/>
          </p:nvPr>
        </p:nvSpPr>
        <p:spPr/>
        <p:txBody>
          <a:bodyPr vert="horz"/>
          <a:lstStyle/>
          <a:p>
            <a:r>
              <a:rPr lang="en-US" dirty="0"/>
              <a:t>Hybrid Power Plant for 200MW Round-the-Clock Load</a:t>
            </a:r>
          </a:p>
        </p:txBody>
      </p:sp>
      <p:sp>
        <p:nvSpPr>
          <p:cNvPr id="10" name="Text Placeholder 9">
            <a:extLst>
              <a:ext uri="{FF2B5EF4-FFF2-40B4-BE49-F238E27FC236}">
                <a16:creationId xmlns:a16="http://schemas.microsoft.com/office/drawing/2014/main" id="{3CB2ACCA-4794-E56C-1BC3-01C71054E36A}"/>
              </a:ext>
            </a:extLst>
          </p:cNvPr>
          <p:cNvSpPr>
            <a:spLocks noGrp="1"/>
          </p:cNvSpPr>
          <p:nvPr>
            <p:ph type="body" sz="quarter" idx="13"/>
          </p:nvPr>
        </p:nvSpPr>
        <p:spPr>
          <a:xfrm>
            <a:off x="419100" y="889824"/>
            <a:ext cx="11353800" cy="229164"/>
          </a:xfrm>
        </p:spPr>
        <p:txBody>
          <a:bodyPr/>
          <a:lstStyle/>
          <a:p>
            <a:r>
              <a:rPr lang="en-US" b="0" dirty="0"/>
              <a:t>Wind + Solar + BESS + LM2500</a:t>
            </a:r>
          </a:p>
        </p:txBody>
      </p:sp>
      <p:sp>
        <p:nvSpPr>
          <p:cNvPr id="128" name="Rectangle 127">
            <a:extLst>
              <a:ext uri="{FF2B5EF4-FFF2-40B4-BE49-F238E27FC236}">
                <a16:creationId xmlns:a16="http://schemas.microsoft.com/office/drawing/2014/main" id="{F6FEF68C-8449-C44D-C3F0-90A4D353452B}"/>
              </a:ext>
            </a:extLst>
          </p:cNvPr>
          <p:cNvSpPr/>
          <p:nvPr/>
        </p:nvSpPr>
        <p:spPr>
          <a:xfrm>
            <a:off x="6374792" y="1125415"/>
            <a:ext cx="99062" cy="521842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cxnSp>
        <p:nvCxnSpPr>
          <p:cNvPr id="129" name="Straight Connector 128">
            <a:extLst>
              <a:ext uri="{FF2B5EF4-FFF2-40B4-BE49-F238E27FC236}">
                <a16:creationId xmlns:a16="http://schemas.microsoft.com/office/drawing/2014/main" id="{281E9851-8B0C-53EF-4A1D-523222773DE9}"/>
              </a:ext>
            </a:extLst>
          </p:cNvPr>
          <p:cNvCxnSpPr>
            <a:cxnSpLocks/>
            <a:stCxn id="128" idx="0"/>
            <a:endCxn id="128" idx="2"/>
          </p:cNvCxnSpPr>
          <p:nvPr/>
        </p:nvCxnSpPr>
        <p:spPr>
          <a:xfrm>
            <a:off x="6424323" y="1125415"/>
            <a:ext cx="0" cy="521842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B0E009B2-083F-ACCD-8575-080A013A88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699" y="1871240"/>
            <a:ext cx="543146" cy="363294"/>
          </a:xfrm>
          <a:prstGeom prst="rect">
            <a:avLst/>
          </a:prstGeom>
        </p:spPr>
      </p:pic>
      <p:pic>
        <p:nvPicPr>
          <p:cNvPr id="7" name="Graphic 4">
            <a:extLst>
              <a:ext uri="{FF2B5EF4-FFF2-40B4-BE49-F238E27FC236}">
                <a16:creationId xmlns:a16="http://schemas.microsoft.com/office/drawing/2014/main" id="{F5286837-85CE-DCED-9E66-774D1FED89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699" y="2353195"/>
            <a:ext cx="543146" cy="363294"/>
          </a:xfrm>
          <a:prstGeom prst="rect">
            <a:avLst/>
          </a:prstGeom>
        </p:spPr>
      </p:pic>
      <p:cxnSp>
        <p:nvCxnSpPr>
          <p:cNvPr id="26" name="Straight Connector 25">
            <a:extLst>
              <a:ext uri="{FF2B5EF4-FFF2-40B4-BE49-F238E27FC236}">
                <a16:creationId xmlns:a16="http://schemas.microsoft.com/office/drawing/2014/main" id="{044986DF-A780-F301-92B2-268891354267}"/>
              </a:ext>
            </a:extLst>
          </p:cNvPr>
          <p:cNvCxnSpPr>
            <a:cxnSpLocks/>
            <a:stCxn id="5" idx="3"/>
            <a:endCxn id="65" idx="1"/>
          </p:cNvCxnSpPr>
          <p:nvPr/>
        </p:nvCxnSpPr>
        <p:spPr>
          <a:xfrm>
            <a:off x="1347845" y="2052887"/>
            <a:ext cx="32405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EFBEA68-A1BB-7F07-66CA-640522E450CE}"/>
              </a:ext>
            </a:extLst>
          </p:cNvPr>
          <p:cNvCxnSpPr>
            <a:cxnSpLocks/>
            <a:stCxn id="7" idx="3"/>
          </p:cNvCxnSpPr>
          <p:nvPr/>
        </p:nvCxnSpPr>
        <p:spPr>
          <a:xfrm>
            <a:off x="1347845" y="2534842"/>
            <a:ext cx="2939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E9542B2-F2B4-5410-F1D3-B3957E00DF1A}"/>
              </a:ext>
            </a:extLst>
          </p:cNvPr>
          <p:cNvCxnSpPr>
            <a:cxnSpLocks/>
            <a:endCxn id="75" idx="1"/>
          </p:cNvCxnSpPr>
          <p:nvPr/>
        </p:nvCxnSpPr>
        <p:spPr>
          <a:xfrm flipV="1">
            <a:off x="1347845" y="5250808"/>
            <a:ext cx="324057" cy="24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1D9F51A-0F81-A4D0-893F-765117D544E7}"/>
              </a:ext>
            </a:extLst>
          </p:cNvPr>
          <p:cNvCxnSpPr>
            <a:cxnSpLocks/>
            <a:endCxn id="78" idx="1"/>
          </p:cNvCxnSpPr>
          <p:nvPr/>
        </p:nvCxnSpPr>
        <p:spPr>
          <a:xfrm>
            <a:off x="1347845" y="6002176"/>
            <a:ext cx="32405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3C272BD-5172-D77A-FD73-AE3D94DBA20E}"/>
              </a:ext>
            </a:extLst>
          </p:cNvPr>
          <p:cNvCxnSpPr>
            <a:cxnSpLocks/>
            <a:endCxn id="200" idx="2"/>
          </p:cNvCxnSpPr>
          <p:nvPr/>
        </p:nvCxnSpPr>
        <p:spPr>
          <a:xfrm>
            <a:off x="2479016" y="2052887"/>
            <a:ext cx="0" cy="423587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E80276F-CDE8-23C1-E120-2EA69255740F}"/>
              </a:ext>
            </a:extLst>
          </p:cNvPr>
          <p:cNvCxnSpPr>
            <a:cxnSpLocks/>
            <a:stCxn id="64" idx="3"/>
            <a:endCxn id="40" idx="1"/>
          </p:cNvCxnSpPr>
          <p:nvPr/>
        </p:nvCxnSpPr>
        <p:spPr>
          <a:xfrm>
            <a:off x="3208947" y="2978916"/>
            <a:ext cx="84938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45EDA0DD-CF0A-D6C3-1BA4-32C5E211526B}"/>
              </a:ext>
            </a:extLst>
          </p:cNvPr>
          <p:cNvGrpSpPr/>
          <p:nvPr/>
        </p:nvGrpSpPr>
        <p:grpSpPr>
          <a:xfrm>
            <a:off x="4058327" y="2759494"/>
            <a:ext cx="596346" cy="438843"/>
            <a:chOff x="5842715" y="5001087"/>
            <a:chExt cx="596346" cy="438843"/>
          </a:xfrm>
        </p:grpSpPr>
        <p:pic>
          <p:nvPicPr>
            <p:cNvPr id="40" name="Graphic 23">
              <a:extLst>
                <a:ext uri="{FF2B5EF4-FFF2-40B4-BE49-F238E27FC236}">
                  <a16:creationId xmlns:a16="http://schemas.microsoft.com/office/drawing/2014/main" id="{FD7261CC-7D74-8C46-B28D-D8551CA2015D}"/>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5842715" y="5001087"/>
              <a:ext cx="198798" cy="438843"/>
            </a:xfrm>
            <a:prstGeom prst="rect">
              <a:avLst/>
            </a:prstGeom>
          </p:spPr>
        </p:pic>
        <p:pic>
          <p:nvPicPr>
            <p:cNvPr id="41" name="Graphic 23">
              <a:extLst>
                <a:ext uri="{FF2B5EF4-FFF2-40B4-BE49-F238E27FC236}">
                  <a16:creationId xmlns:a16="http://schemas.microsoft.com/office/drawing/2014/main" id="{96D0BDD3-9A87-7C5C-4E07-3C063ACB1C6A}"/>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6041489" y="5001087"/>
              <a:ext cx="198798" cy="438843"/>
            </a:xfrm>
            <a:prstGeom prst="rect">
              <a:avLst/>
            </a:prstGeom>
          </p:spPr>
        </p:pic>
        <p:pic>
          <p:nvPicPr>
            <p:cNvPr id="42" name="Graphic 41">
              <a:extLst>
                <a:ext uri="{FF2B5EF4-FFF2-40B4-BE49-F238E27FC236}">
                  <a16:creationId xmlns:a16="http://schemas.microsoft.com/office/drawing/2014/main" id="{E5805B99-9270-B2ED-53C3-3867E1DA8C77}"/>
                </a:ext>
              </a:extLst>
            </p:cNvPr>
            <p:cNvPicPr>
              <a:picLocks noChangeAspect="1"/>
            </p:cNvPicPr>
            <p:nvPr/>
          </p:nvPicPr>
          <p:blipFill rotWithShape="1">
            <a:blip>
              <a:extLst>
                <a:ext uri="{96DAC541-7B7A-43D3-8B79-37D633B846F1}">
                  <asvg:svgBlip xmlns:asvg="http://schemas.microsoft.com/office/drawing/2016/SVG/main" r:embed="rId6"/>
                </a:ext>
              </a:extLst>
            </a:blip>
            <a:srcRect l="72609"/>
            <a:stretch/>
          </p:blipFill>
          <p:spPr>
            <a:xfrm>
              <a:off x="6240263" y="5001087"/>
              <a:ext cx="198798" cy="438843"/>
            </a:xfrm>
            <a:prstGeom prst="rect">
              <a:avLst/>
            </a:prstGeom>
          </p:spPr>
        </p:pic>
      </p:grpSp>
      <p:sp>
        <p:nvSpPr>
          <p:cNvPr id="43" name="TextBox 42">
            <a:extLst>
              <a:ext uri="{FF2B5EF4-FFF2-40B4-BE49-F238E27FC236}">
                <a16:creationId xmlns:a16="http://schemas.microsoft.com/office/drawing/2014/main" id="{A74A92A1-0406-60EB-0651-C148BF4C4D46}"/>
              </a:ext>
            </a:extLst>
          </p:cNvPr>
          <p:cNvSpPr txBox="1"/>
          <p:nvPr/>
        </p:nvSpPr>
        <p:spPr>
          <a:xfrm>
            <a:off x="3995202" y="3306341"/>
            <a:ext cx="722597" cy="244654"/>
          </a:xfrm>
          <a:prstGeom prst="rect">
            <a:avLst/>
          </a:prstGeom>
          <a:noFill/>
        </p:spPr>
        <p:txBody>
          <a:bodyPr wrap="none" lIns="0" tIns="0" rIns="0" bIns="0" rtlCol="0">
            <a:noAutofit/>
          </a:bodyPr>
          <a:lstStyle>
            <a:defPPr>
              <a:defRPr lang="en-US"/>
            </a:defPPr>
            <a:lvl1pPr marR="0" lvl="0" indent="0" algn="ctr" fontAlgn="auto">
              <a:lnSpc>
                <a:spcPct val="100000"/>
              </a:lnSpc>
              <a:spcBef>
                <a:spcPts val="0"/>
              </a:spcBef>
              <a:spcAft>
                <a:spcPts val="600"/>
              </a:spcAft>
              <a:buClrTx/>
              <a:buSzTx/>
              <a:buFontTx/>
              <a:buNone/>
              <a:tabLst/>
              <a:defRPr kumimoji="0" b="1" i="0" u="none" strike="noStrike" cap="none" spc="0" normalizeH="0" baseline="0">
                <a:ln>
                  <a:noFill/>
                </a:ln>
                <a:solidFill>
                  <a:srgbClr val="005E60"/>
                </a:solidFill>
                <a:effectLst/>
                <a:uLnTx/>
                <a:uFillTx/>
                <a:latin typeface="Inter"/>
              </a:defRPr>
            </a:lvl1pPr>
          </a:lstStyle>
          <a:p>
            <a:r>
              <a:rPr lang="en-US" sz="1600" dirty="0"/>
              <a:t>BESS</a:t>
            </a:r>
          </a:p>
        </p:txBody>
      </p:sp>
      <p:cxnSp>
        <p:nvCxnSpPr>
          <p:cNvPr id="50" name="Straight Connector 49">
            <a:extLst>
              <a:ext uri="{FF2B5EF4-FFF2-40B4-BE49-F238E27FC236}">
                <a16:creationId xmlns:a16="http://schemas.microsoft.com/office/drawing/2014/main" id="{AF111A32-1545-C22A-EE2E-4ED32BBDB434}"/>
              </a:ext>
            </a:extLst>
          </p:cNvPr>
          <p:cNvCxnSpPr>
            <a:cxnSpLocks/>
            <a:stCxn id="1035" idx="3"/>
            <a:endCxn id="212" idx="1"/>
          </p:cNvCxnSpPr>
          <p:nvPr/>
        </p:nvCxnSpPr>
        <p:spPr>
          <a:xfrm>
            <a:off x="3486707" y="1493114"/>
            <a:ext cx="545332"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F82C3709-5BC5-9DF4-6A04-E10A373BE9DF}"/>
              </a:ext>
            </a:extLst>
          </p:cNvPr>
          <p:cNvCxnSpPr>
            <a:cxnSpLocks/>
            <a:stCxn id="1035" idx="1"/>
          </p:cNvCxnSpPr>
          <p:nvPr/>
        </p:nvCxnSpPr>
        <p:spPr>
          <a:xfrm flipH="1">
            <a:off x="432711" y="1493114"/>
            <a:ext cx="515124"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6542063-43F4-04AF-5139-D7AF7B43D925}"/>
              </a:ext>
            </a:extLst>
          </p:cNvPr>
          <p:cNvCxnSpPr>
            <a:cxnSpLocks/>
          </p:cNvCxnSpPr>
          <p:nvPr/>
        </p:nvCxnSpPr>
        <p:spPr>
          <a:xfrm flipV="1">
            <a:off x="432712" y="1485365"/>
            <a:ext cx="0" cy="4516809"/>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D95241F-5CCB-821C-086E-FC5AE11969BE}"/>
              </a:ext>
            </a:extLst>
          </p:cNvPr>
          <p:cNvCxnSpPr>
            <a:cxnSpLocks/>
          </p:cNvCxnSpPr>
          <p:nvPr/>
        </p:nvCxnSpPr>
        <p:spPr>
          <a:xfrm>
            <a:off x="432711" y="6002174"/>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435E8261-5F66-F4A2-196F-3F96241A6A27}"/>
              </a:ext>
            </a:extLst>
          </p:cNvPr>
          <p:cNvCxnSpPr>
            <a:cxnSpLocks/>
          </p:cNvCxnSpPr>
          <p:nvPr/>
        </p:nvCxnSpPr>
        <p:spPr>
          <a:xfrm>
            <a:off x="432711" y="5255040"/>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7279164-BB2E-BAD0-A4C0-8C30F69F4377}"/>
              </a:ext>
            </a:extLst>
          </p:cNvPr>
          <p:cNvCxnSpPr>
            <a:cxnSpLocks/>
          </p:cNvCxnSpPr>
          <p:nvPr/>
        </p:nvCxnSpPr>
        <p:spPr>
          <a:xfrm>
            <a:off x="432711" y="2534842"/>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C12B09F-1204-04E9-47EE-79A33D604C5B}"/>
              </a:ext>
            </a:extLst>
          </p:cNvPr>
          <p:cNvCxnSpPr>
            <a:cxnSpLocks/>
          </p:cNvCxnSpPr>
          <p:nvPr/>
        </p:nvCxnSpPr>
        <p:spPr>
          <a:xfrm>
            <a:off x="432711" y="2056114"/>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61" name="Graphic 68">
            <a:extLst>
              <a:ext uri="{FF2B5EF4-FFF2-40B4-BE49-F238E27FC236}">
                <a16:creationId xmlns:a16="http://schemas.microsoft.com/office/drawing/2014/main" id="{1479ADFE-FA2F-50CC-4DFC-AFD92AC9B2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07017" y="4084036"/>
            <a:ext cx="640080" cy="471638"/>
          </a:xfrm>
          <a:prstGeom prst="rect">
            <a:avLst/>
          </a:prstGeom>
        </p:spPr>
      </p:pic>
      <p:sp>
        <p:nvSpPr>
          <p:cNvPr id="62" name="TextBox 61">
            <a:extLst>
              <a:ext uri="{FF2B5EF4-FFF2-40B4-BE49-F238E27FC236}">
                <a16:creationId xmlns:a16="http://schemas.microsoft.com/office/drawing/2014/main" id="{29A53764-B40A-FACE-DA34-F878828D171A}"/>
              </a:ext>
            </a:extLst>
          </p:cNvPr>
          <p:cNvSpPr txBox="1"/>
          <p:nvPr/>
        </p:nvSpPr>
        <p:spPr>
          <a:xfrm>
            <a:off x="4339308" y="3801842"/>
            <a:ext cx="1386370" cy="29776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Data Center</a:t>
            </a:r>
          </a:p>
        </p:txBody>
      </p:sp>
      <p:pic>
        <p:nvPicPr>
          <p:cNvPr id="64" name="Graphic 74">
            <a:extLst>
              <a:ext uri="{FF2B5EF4-FFF2-40B4-BE49-F238E27FC236}">
                <a16:creationId xmlns:a16="http://schemas.microsoft.com/office/drawing/2014/main" id="{541BCFF6-23B2-2ADC-5154-7C877AEB17F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54335" y="2817254"/>
            <a:ext cx="354612" cy="323323"/>
          </a:xfrm>
          <a:prstGeom prst="rect">
            <a:avLst/>
          </a:prstGeom>
        </p:spPr>
      </p:pic>
      <p:pic>
        <p:nvPicPr>
          <p:cNvPr id="65" name="Graphic 74">
            <a:extLst>
              <a:ext uri="{FF2B5EF4-FFF2-40B4-BE49-F238E27FC236}">
                <a16:creationId xmlns:a16="http://schemas.microsoft.com/office/drawing/2014/main" id="{660CF4A0-DF7A-CBBE-70F1-8834B0D8EF9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1927829"/>
            <a:ext cx="274320" cy="250115"/>
          </a:xfrm>
          <a:prstGeom prst="rect">
            <a:avLst/>
          </a:prstGeom>
        </p:spPr>
      </p:pic>
      <p:pic>
        <p:nvPicPr>
          <p:cNvPr id="66" name="Graphic 74">
            <a:extLst>
              <a:ext uri="{FF2B5EF4-FFF2-40B4-BE49-F238E27FC236}">
                <a16:creationId xmlns:a16="http://schemas.microsoft.com/office/drawing/2014/main" id="{B1DFC92B-15D8-E1C2-5597-69FBBE62AAC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2380201"/>
            <a:ext cx="274320" cy="250116"/>
          </a:xfrm>
          <a:prstGeom prst="rect">
            <a:avLst/>
          </a:prstGeom>
        </p:spPr>
      </p:pic>
      <p:cxnSp>
        <p:nvCxnSpPr>
          <p:cNvPr id="67" name="Straight Connector 66">
            <a:extLst>
              <a:ext uri="{FF2B5EF4-FFF2-40B4-BE49-F238E27FC236}">
                <a16:creationId xmlns:a16="http://schemas.microsoft.com/office/drawing/2014/main" id="{5A42B120-D0CE-722B-ADC3-0848E14FDF90}"/>
              </a:ext>
            </a:extLst>
          </p:cNvPr>
          <p:cNvCxnSpPr>
            <a:cxnSpLocks/>
            <a:endCxn id="64" idx="1"/>
          </p:cNvCxnSpPr>
          <p:nvPr/>
        </p:nvCxnSpPr>
        <p:spPr>
          <a:xfrm>
            <a:off x="2474730" y="2978916"/>
            <a:ext cx="37960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58F2F3D-0EC6-8DB7-9048-E332FF6D67E7}"/>
              </a:ext>
            </a:extLst>
          </p:cNvPr>
          <p:cNvCxnSpPr>
            <a:cxnSpLocks/>
            <a:stCxn id="66" idx="3"/>
          </p:cNvCxnSpPr>
          <p:nvPr/>
        </p:nvCxnSpPr>
        <p:spPr>
          <a:xfrm>
            <a:off x="1946222" y="2505259"/>
            <a:ext cx="528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8556999-1627-7D43-F6C7-A417B84F247E}"/>
              </a:ext>
            </a:extLst>
          </p:cNvPr>
          <p:cNvCxnSpPr>
            <a:cxnSpLocks/>
            <a:stCxn id="65" idx="3"/>
            <a:endCxn id="200" idx="0"/>
          </p:cNvCxnSpPr>
          <p:nvPr/>
        </p:nvCxnSpPr>
        <p:spPr>
          <a:xfrm>
            <a:off x="1946222" y="2052887"/>
            <a:ext cx="532794" cy="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A9A31E34-C3B0-E679-873B-E0249A39366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5125750"/>
            <a:ext cx="274320" cy="250116"/>
          </a:xfrm>
          <a:prstGeom prst="rect">
            <a:avLst/>
          </a:prstGeom>
        </p:spPr>
      </p:pic>
      <p:pic>
        <p:nvPicPr>
          <p:cNvPr id="78" name="Graphic 74">
            <a:extLst>
              <a:ext uri="{FF2B5EF4-FFF2-40B4-BE49-F238E27FC236}">
                <a16:creationId xmlns:a16="http://schemas.microsoft.com/office/drawing/2014/main" id="{D79CF3F9-65FA-3C3F-5D7A-EC892F8D359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1902" y="5877118"/>
            <a:ext cx="274320" cy="250116"/>
          </a:xfrm>
          <a:prstGeom prst="rect">
            <a:avLst/>
          </a:prstGeom>
        </p:spPr>
      </p:pic>
      <p:cxnSp>
        <p:nvCxnSpPr>
          <p:cNvPr id="79" name="Straight Connector 78">
            <a:extLst>
              <a:ext uri="{FF2B5EF4-FFF2-40B4-BE49-F238E27FC236}">
                <a16:creationId xmlns:a16="http://schemas.microsoft.com/office/drawing/2014/main" id="{684EA15E-E458-83C9-8332-826BE45591A3}"/>
              </a:ext>
            </a:extLst>
          </p:cNvPr>
          <p:cNvCxnSpPr>
            <a:cxnSpLocks/>
          </p:cNvCxnSpPr>
          <p:nvPr/>
        </p:nvCxnSpPr>
        <p:spPr>
          <a:xfrm>
            <a:off x="1946222" y="6002176"/>
            <a:ext cx="52850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41B99E30-548C-747B-69E0-BD2FE6DF6370}"/>
              </a:ext>
            </a:extLst>
          </p:cNvPr>
          <p:cNvCxnSpPr>
            <a:cxnSpLocks/>
            <a:stCxn id="75" idx="3"/>
          </p:cNvCxnSpPr>
          <p:nvPr/>
        </p:nvCxnSpPr>
        <p:spPr>
          <a:xfrm>
            <a:off x="1946222" y="5250808"/>
            <a:ext cx="5420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552616A7-3A3B-C6AB-D974-36034EDF7846}"/>
              </a:ext>
            </a:extLst>
          </p:cNvPr>
          <p:cNvCxnSpPr>
            <a:cxnSpLocks/>
          </p:cNvCxnSpPr>
          <p:nvPr/>
        </p:nvCxnSpPr>
        <p:spPr>
          <a:xfrm flipV="1">
            <a:off x="3242952" y="4319855"/>
            <a:ext cx="1372809" cy="174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84" name="Graphic 74">
            <a:extLst>
              <a:ext uri="{FF2B5EF4-FFF2-40B4-BE49-F238E27FC236}">
                <a16:creationId xmlns:a16="http://schemas.microsoft.com/office/drawing/2014/main" id="{958CC8FF-35B1-D45E-F5A8-15FEC4D922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88340" y="4136996"/>
            <a:ext cx="354612" cy="323323"/>
          </a:xfrm>
          <a:prstGeom prst="rect">
            <a:avLst/>
          </a:prstGeom>
        </p:spPr>
      </p:pic>
      <p:cxnSp>
        <p:nvCxnSpPr>
          <p:cNvPr id="85" name="Straight Connector 84">
            <a:extLst>
              <a:ext uri="{FF2B5EF4-FFF2-40B4-BE49-F238E27FC236}">
                <a16:creationId xmlns:a16="http://schemas.microsoft.com/office/drawing/2014/main" id="{1760CEB1-E7B4-3C39-6433-EA2C12B971A4}"/>
              </a:ext>
            </a:extLst>
          </p:cNvPr>
          <p:cNvCxnSpPr>
            <a:cxnSpLocks/>
          </p:cNvCxnSpPr>
          <p:nvPr/>
        </p:nvCxnSpPr>
        <p:spPr>
          <a:xfrm>
            <a:off x="2488320" y="4319856"/>
            <a:ext cx="40002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CABAAD95-DE4D-7909-818D-F9F9D2C5FA10}"/>
              </a:ext>
            </a:extLst>
          </p:cNvPr>
          <p:cNvSpPr txBox="1"/>
          <p:nvPr/>
        </p:nvSpPr>
        <p:spPr>
          <a:xfrm>
            <a:off x="585706" y="1614769"/>
            <a:ext cx="2295764" cy="302511"/>
          </a:xfrm>
          <a:prstGeom prst="rect">
            <a:avLst/>
          </a:prstGeom>
          <a:noFill/>
        </p:spPr>
        <p:txBody>
          <a:bodyPr wrap="none" lIns="0" tIns="0" rIns="0" bIns="0" rtlCol="0">
            <a:no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Gas Generation</a:t>
            </a:r>
            <a:endParaRPr kumimoji="0" lang="en-US" sz="1600" i="0" u="none" strike="noStrike" kern="1200" cap="none" spc="0" normalizeH="0" baseline="0" noProof="0" dirty="0">
              <a:ln>
                <a:noFill/>
              </a:ln>
              <a:solidFill>
                <a:srgbClr val="005E60"/>
              </a:solidFill>
              <a:effectLst/>
              <a:uLnTx/>
              <a:uFillTx/>
              <a:latin typeface="Inter"/>
              <a:ea typeface="+mn-ea"/>
              <a:cs typeface="+mn-cs"/>
            </a:endParaRPr>
          </a:p>
        </p:txBody>
      </p:sp>
      <p:pic>
        <p:nvPicPr>
          <p:cNvPr id="212" name="Graphic 69">
            <a:extLst>
              <a:ext uri="{FF2B5EF4-FFF2-40B4-BE49-F238E27FC236}">
                <a16:creationId xmlns:a16="http://schemas.microsoft.com/office/drawing/2014/main" id="{5C85E050-FE41-3CFD-8C2B-CCB4ED99830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032039" y="1283340"/>
            <a:ext cx="548640" cy="419548"/>
          </a:xfrm>
          <a:prstGeom prst="rect">
            <a:avLst/>
          </a:prstGeom>
        </p:spPr>
      </p:pic>
      <p:sp>
        <p:nvSpPr>
          <p:cNvPr id="1035" name="Rectangle: Rounded Corners 1034">
            <a:extLst>
              <a:ext uri="{FF2B5EF4-FFF2-40B4-BE49-F238E27FC236}">
                <a16:creationId xmlns:a16="http://schemas.microsoft.com/office/drawing/2014/main" id="{E7205587-892F-5D2F-64FA-DCAB5A823833}"/>
              </a:ext>
            </a:extLst>
          </p:cNvPr>
          <p:cNvSpPr/>
          <p:nvPr/>
        </p:nvSpPr>
        <p:spPr>
          <a:xfrm>
            <a:off x="947835" y="1384362"/>
            <a:ext cx="2538872" cy="21750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1050" b="1" dirty="0">
                <a:solidFill>
                  <a:schemeClr val="bg1"/>
                </a:solidFill>
              </a:rPr>
              <a:t>Control Mitigations</a:t>
            </a:r>
          </a:p>
        </p:txBody>
      </p:sp>
      <p:sp>
        <p:nvSpPr>
          <p:cNvPr id="1042" name="TextBox 1041">
            <a:extLst>
              <a:ext uri="{FF2B5EF4-FFF2-40B4-BE49-F238E27FC236}">
                <a16:creationId xmlns:a16="http://schemas.microsoft.com/office/drawing/2014/main" id="{DB1F5E67-6508-0A63-229B-F49C6B8E2207}"/>
              </a:ext>
            </a:extLst>
          </p:cNvPr>
          <p:cNvSpPr txBox="1"/>
          <p:nvPr/>
        </p:nvSpPr>
        <p:spPr>
          <a:xfrm>
            <a:off x="699330" y="4280244"/>
            <a:ext cx="1314115" cy="29870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b="1" dirty="0">
                <a:solidFill>
                  <a:srgbClr val="005E60"/>
                </a:solidFill>
                <a:latin typeface="Inter"/>
              </a:rPr>
              <a:t>Wind Generation</a:t>
            </a:r>
          </a:p>
        </p:txBody>
      </p:sp>
      <p:sp>
        <p:nvSpPr>
          <p:cNvPr id="1043" name="Rectangle: Rounded Corners 1042">
            <a:extLst>
              <a:ext uri="{FF2B5EF4-FFF2-40B4-BE49-F238E27FC236}">
                <a16:creationId xmlns:a16="http://schemas.microsoft.com/office/drawing/2014/main" id="{A95449FA-5855-BA44-E48B-10C2BDD08BB5}"/>
              </a:ext>
            </a:extLst>
          </p:cNvPr>
          <p:cNvSpPr/>
          <p:nvPr/>
        </p:nvSpPr>
        <p:spPr>
          <a:xfrm>
            <a:off x="4700695" y="1356945"/>
            <a:ext cx="769980" cy="25466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1050" b="1" dirty="0">
                <a:solidFill>
                  <a:schemeClr val="bg1"/>
                </a:solidFill>
              </a:rPr>
              <a:t>EMS</a:t>
            </a:r>
          </a:p>
        </p:txBody>
      </p:sp>
      <p:cxnSp>
        <p:nvCxnSpPr>
          <p:cNvPr id="118" name="Straight Connector 117">
            <a:extLst>
              <a:ext uri="{FF2B5EF4-FFF2-40B4-BE49-F238E27FC236}">
                <a16:creationId xmlns:a16="http://schemas.microsoft.com/office/drawing/2014/main" id="{22C557B4-6787-1129-5440-68D36A0A1325}"/>
              </a:ext>
            </a:extLst>
          </p:cNvPr>
          <p:cNvCxnSpPr>
            <a:cxnSpLocks/>
            <a:endCxn id="120" idx="1"/>
          </p:cNvCxnSpPr>
          <p:nvPr/>
        </p:nvCxnSpPr>
        <p:spPr>
          <a:xfrm flipV="1">
            <a:off x="1350327" y="4049127"/>
            <a:ext cx="324057" cy="242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9C8C6F7F-B798-A260-CDFA-F7E09E4A9A16}"/>
              </a:ext>
            </a:extLst>
          </p:cNvPr>
          <p:cNvCxnSpPr>
            <a:cxnSpLocks/>
          </p:cNvCxnSpPr>
          <p:nvPr/>
        </p:nvCxnSpPr>
        <p:spPr>
          <a:xfrm>
            <a:off x="435193" y="4053359"/>
            <a:ext cx="37198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20" name="Graphic 119">
            <a:extLst>
              <a:ext uri="{FF2B5EF4-FFF2-40B4-BE49-F238E27FC236}">
                <a16:creationId xmlns:a16="http://schemas.microsoft.com/office/drawing/2014/main" id="{EE82BFCC-9A55-22E5-833D-77B25C84A2C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674384" y="3924069"/>
            <a:ext cx="274320" cy="250116"/>
          </a:xfrm>
          <a:prstGeom prst="rect">
            <a:avLst/>
          </a:prstGeom>
        </p:spPr>
      </p:pic>
      <p:cxnSp>
        <p:nvCxnSpPr>
          <p:cNvPr id="121" name="Straight Connector 120">
            <a:extLst>
              <a:ext uri="{FF2B5EF4-FFF2-40B4-BE49-F238E27FC236}">
                <a16:creationId xmlns:a16="http://schemas.microsoft.com/office/drawing/2014/main" id="{F56CEBF6-0C7B-C393-7EBC-FBD1136EAA76}"/>
              </a:ext>
            </a:extLst>
          </p:cNvPr>
          <p:cNvCxnSpPr>
            <a:cxnSpLocks/>
            <a:stCxn id="120" idx="3"/>
          </p:cNvCxnSpPr>
          <p:nvPr/>
        </p:nvCxnSpPr>
        <p:spPr>
          <a:xfrm>
            <a:off x="1948704" y="4049127"/>
            <a:ext cx="54209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22" name="Graphic 121">
            <a:extLst>
              <a:ext uri="{FF2B5EF4-FFF2-40B4-BE49-F238E27FC236}">
                <a16:creationId xmlns:a16="http://schemas.microsoft.com/office/drawing/2014/main" id="{C96FFEEB-B66C-B8D3-8D24-10496E4357F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20542" y="5495180"/>
            <a:ext cx="721271" cy="588405"/>
          </a:xfrm>
          <a:prstGeom prst="rect">
            <a:avLst/>
          </a:prstGeom>
        </p:spPr>
      </p:pic>
      <p:pic>
        <p:nvPicPr>
          <p:cNvPr id="123" name="Graphic 122">
            <a:extLst>
              <a:ext uri="{FF2B5EF4-FFF2-40B4-BE49-F238E27FC236}">
                <a16:creationId xmlns:a16="http://schemas.microsoft.com/office/drawing/2014/main" id="{BEFED638-BA40-640B-0A7E-62C71648374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92302" y="4804310"/>
            <a:ext cx="721271" cy="588405"/>
          </a:xfrm>
          <a:prstGeom prst="rect">
            <a:avLst/>
          </a:prstGeom>
        </p:spPr>
      </p:pic>
      <p:pic>
        <p:nvPicPr>
          <p:cNvPr id="12" name="Picture 18">
            <a:extLst>
              <a:ext uri="{FF2B5EF4-FFF2-40B4-BE49-F238E27FC236}">
                <a16:creationId xmlns:a16="http://schemas.microsoft.com/office/drawing/2014/main" id="{A9E0D0D7-96A9-71A0-3521-4D7A0C3FFE37}"/>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804948" y="3401982"/>
            <a:ext cx="706542" cy="666168"/>
          </a:xfrm>
          <a:prstGeom prst="rect">
            <a:avLst/>
          </a:prstGeom>
        </p:spPr>
      </p:pic>
      <p:sp>
        <p:nvSpPr>
          <p:cNvPr id="14" name="TextBox 13">
            <a:extLst>
              <a:ext uri="{FF2B5EF4-FFF2-40B4-BE49-F238E27FC236}">
                <a16:creationId xmlns:a16="http://schemas.microsoft.com/office/drawing/2014/main" id="{96893126-C4FA-8964-F2A3-87F1A28586E0}"/>
              </a:ext>
            </a:extLst>
          </p:cNvPr>
          <p:cNvSpPr txBox="1"/>
          <p:nvPr/>
        </p:nvSpPr>
        <p:spPr>
          <a:xfrm>
            <a:off x="733193" y="2857161"/>
            <a:ext cx="1314115" cy="29870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lang="en-US" sz="1600" b="1" dirty="0">
                <a:solidFill>
                  <a:srgbClr val="005E60"/>
                </a:solidFill>
                <a:latin typeface="Inter"/>
              </a:rPr>
              <a:t>Solar Generation</a:t>
            </a:r>
          </a:p>
          <a:p>
            <a:pPr marL="0" marR="0" lvl="0" indent="0" algn="ctr" defTabSz="914400" rtl="0" eaLnBrk="1" fontAlgn="auto" latinLnBrk="0" hangingPunct="1">
              <a:lnSpc>
                <a:spcPct val="100000"/>
              </a:lnSpc>
              <a:spcBef>
                <a:spcPts val="0"/>
              </a:spcBef>
              <a:spcAft>
                <a:spcPts val="600"/>
              </a:spcAft>
              <a:buClrTx/>
              <a:buSzTx/>
              <a:buFontTx/>
              <a:buNone/>
              <a:tabLst/>
              <a:defRPr/>
            </a:pPr>
            <a:endParaRPr kumimoji="0" lang="en-US" sz="1600" i="0" u="none" strike="noStrike" kern="1200" cap="none" spc="0" normalizeH="0" baseline="0" noProof="0" dirty="0">
              <a:ln>
                <a:noFill/>
              </a:ln>
              <a:solidFill>
                <a:srgbClr val="005E60"/>
              </a:solidFill>
              <a:effectLst/>
              <a:uLnTx/>
              <a:uFillTx/>
              <a:latin typeface="Inter"/>
              <a:ea typeface="+mn-ea"/>
              <a:cs typeface="+mn-cs"/>
            </a:endParaRPr>
          </a:p>
        </p:txBody>
      </p:sp>
      <p:sp>
        <p:nvSpPr>
          <p:cNvPr id="15" name="Text Placeholder 10">
            <a:extLst>
              <a:ext uri="{FF2B5EF4-FFF2-40B4-BE49-F238E27FC236}">
                <a16:creationId xmlns:a16="http://schemas.microsoft.com/office/drawing/2014/main" id="{61766478-DCF2-7ADD-A6B1-F69FC3F485C3}"/>
              </a:ext>
            </a:extLst>
          </p:cNvPr>
          <p:cNvSpPr txBox="1">
            <a:spLocks/>
          </p:cNvSpPr>
          <p:nvPr/>
        </p:nvSpPr>
        <p:spPr>
          <a:xfrm>
            <a:off x="6642941" y="1125415"/>
            <a:ext cx="5360991" cy="218092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600" b="1"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dirty="0">
                <a:solidFill>
                  <a:schemeClr val="tx1"/>
                </a:solidFill>
              </a:rPr>
              <a:t>Architecture &amp; Design Space: (Islanded)</a:t>
            </a:r>
          </a:p>
          <a:p>
            <a:pPr marL="285750" indent="-285750">
              <a:spcAft>
                <a:spcPts val="600"/>
              </a:spcAft>
              <a:buClrTx/>
              <a:buFont typeface="Arial" panose="020B0604020202020204" pitchFamily="34" charset="0"/>
              <a:buChar char="•"/>
              <a:defRPr/>
            </a:pPr>
            <a:r>
              <a:rPr lang="en-US" b="0" dirty="0">
                <a:solidFill>
                  <a:schemeClr val="tx1"/>
                </a:solidFill>
              </a:rPr>
              <a:t>Wind: 0 ~ 1000MW</a:t>
            </a:r>
          </a:p>
          <a:p>
            <a:pPr marL="285750" indent="-285750">
              <a:spcAft>
                <a:spcPts val="600"/>
              </a:spcAft>
              <a:buClrTx/>
              <a:buFont typeface="Arial" panose="020B0604020202020204" pitchFamily="34" charset="0"/>
              <a:buChar char="•"/>
              <a:defRPr/>
            </a:pPr>
            <a:r>
              <a:rPr lang="en-US" b="0" dirty="0">
                <a:solidFill>
                  <a:schemeClr val="tx1"/>
                </a:solidFill>
              </a:rPr>
              <a:t>Solar: 0 ~ 1000MW</a:t>
            </a:r>
          </a:p>
          <a:p>
            <a:pPr marL="285750" indent="-285750">
              <a:spcAft>
                <a:spcPts val="600"/>
              </a:spcAft>
              <a:buClrTx/>
              <a:buFont typeface="Arial" panose="020B0604020202020204" pitchFamily="34" charset="0"/>
              <a:buChar char="•"/>
              <a:defRPr/>
            </a:pPr>
            <a:r>
              <a:rPr lang="en-US" b="0" dirty="0">
                <a:solidFill>
                  <a:schemeClr val="tx1"/>
                </a:solidFill>
              </a:rPr>
              <a:t>BESS: 0 ~ 1000MW (4hr) </a:t>
            </a:r>
          </a:p>
          <a:p>
            <a:pPr marL="285750" indent="-285750">
              <a:spcAft>
                <a:spcPts val="600"/>
              </a:spcAft>
              <a:buClrTx/>
              <a:buFont typeface="Arial" panose="020B0604020202020204" pitchFamily="34" charset="0"/>
              <a:buChar char="•"/>
              <a:defRPr/>
            </a:pPr>
            <a:r>
              <a:rPr lang="en-US" b="0" dirty="0">
                <a:solidFill>
                  <a:schemeClr val="tx1"/>
                </a:solidFill>
              </a:rPr>
              <a:t>LM2500*: 0~ 7 units</a:t>
            </a:r>
          </a:p>
          <a:p>
            <a:pPr marL="285750" indent="-285750">
              <a:spcAft>
                <a:spcPts val="600"/>
              </a:spcAft>
              <a:buClrTx/>
              <a:buFont typeface="Wingdings" panose="05000000000000000000" pitchFamily="2" charset="2"/>
              <a:buChar char="§"/>
              <a:defRPr/>
            </a:pPr>
            <a:endParaRPr lang="en-US" dirty="0">
              <a:solidFill>
                <a:schemeClr val="tx1"/>
              </a:solidFill>
              <a:latin typeface="Inter"/>
            </a:endParaRPr>
          </a:p>
          <a:p>
            <a:pPr>
              <a:spcAft>
                <a:spcPts val="600"/>
              </a:spcAft>
              <a:buClrTx/>
              <a:defRPr/>
            </a:pPr>
            <a:endParaRPr lang="en-US" dirty="0">
              <a:solidFill>
                <a:schemeClr val="tx1"/>
              </a:solidFill>
            </a:endParaRPr>
          </a:p>
          <a:p>
            <a:endParaRPr lang="en-US" dirty="0">
              <a:solidFill>
                <a:schemeClr val="tx1"/>
              </a:solidFill>
            </a:endParaRPr>
          </a:p>
        </p:txBody>
      </p:sp>
      <p:cxnSp>
        <p:nvCxnSpPr>
          <p:cNvPr id="17" name="Straight Connector 16">
            <a:extLst>
              <a:ext uri="{FF2B5EF4-FFF2-40B4-BE49-F238E27FC236}">
                <a16:creationId xmlns:a16="http://schemas.microsoft.com/office/drawing/2014/main" id="{15840EDE-DE6A-1579-3EC6-AE9F9F710E61}"/>
              </a:ext>
            </a:extLst>
          </p:cNvPr>
          <p:cNvCxnSpPr>
            <a:cxnSpLocks/>
          </p:cNvCxnSpPr>
          <p:nvPr/>
        </p:nvCxnSpPr>
        <p:spPr>
          <a:xfrm flipV="1">
            <a:off x="2856938" y="5321608"/>
            <a:ext cx="279241" cy="1123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071A43C-1CDC-9925-6944-98921DF70EC8}"/>
              </a:ext>
            </a:extLst>
          </p:cNvPr>
          <p:cNvSpPr txBox="1"/>
          <p:nvPr/>
        </p:nvSpPr>
        <p:spPr>
          <a:xfrm>
            <a:off x="2500699" y="4985577"/>
            <a:ext cx="1386370" cy="297761"/>
          </a:xfrm>
          <a:prstGeom prst="rect">
            <a:avLst/>
          </a:prstGeom>
          <a:noFill/>
        </p:spPr>
        <p:txBody>
          <a:bodyPr wrap="none" lIns="0" tIns="0" rIns="0" bIns="0" rtlCol="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600" b="1" i="0" u="none" strike="noStrike" kern="1200" cap="none" spc="0" normalizeH="0" baseline="0" noProof="0" dirty="0">
                <a:ln>
                  <a:noFill/>
                </a:ln>
                <a:solidFill>
                  <a:srgbClr val="005E60"/>
                </a:solidFill>
                <a:effectLst/>
                <a:uLnTx/>
                <a:uFillTx/>
                <a:latin typeface="Inter"/>
                <a:ea typeface="+mn-ea"/>
                <a:cs typeface="+mn-cs"/>
              </a:rPr>
              <a:t>Islanded</a:t>
            </a:r>
          </a:p>
        </p:txBody>
      </p:sp>
      <p:cxnSp>
        <p:nvCxnSpPr>
          <p:cNvPr id="21" name="Straight Connector 20">
            <a:extLst>
              <a:ext uri="{FF2B5EF4-FFF2-40B4-BE49-F238E27FC236}">
                <a16:creationId xmlns:a16="http://schemas.microsoft.com/office/drawing/2014/main" id="{2016E933-300E-3140-739B-B6F405CBC74F}"/>
              </a:ext>
            </a:extLst>
          </p:cNvPr>
          <p:cNvCxnSpPr>
            <a:cxnSpLocks/>
          </p:cNvCxnSpPr>
          <p:nvPr/>
        </p:nvCxnSpPr>
        <p:spPr>
          <a:xfrm flipV="1">
            <a:off x="2474730" y="5438377"/>
            <a:ext cx="393161" cy="68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3720A4C-A538-7D1F-E7A1-E2093159FD0A}"/>
              </a:ext>
            </a:extLst>
          </p:cNvPr>
          <p:cNvSpPr txBox="1"/>
          <p:nvPr/>
        </p:nvSpPr>
        <p:spPr>
          <a:xfrm>
            <a:off x="6623164" y="2978916"/>
            <a:ext cx="5360991" cy="2841359"/>
          </a:xfrm>
          <a:prstGeom prst="rect">
            <a:avLst/>
          </a:prstGeom>
          <a:noFill/>
        </p:spPr>
        <p:txBody>
          <a:bodyPr wrap="square" lIns="0" tIns="0" rIns="0" bIns="0" rtlCol="0">
            <a:noAutofit/>
          </a:bodyPr>
          <a:lstStyle/>
          <a:p>
            <a:pPr algn="l">
              <a:spcAft>
                <a:spcPts val="600"/>
              </a:spcAft>
            </a:pPr>
            <a:r>
              <a:rPr lang="en-US" sz="1400" dirty="0"/>
              <a:t>* Notes on GTs. </a:t>
            </a:r>
          </a:p>
          <a:p>
            <a:pPr marL="285750" indent="-285750">
              <a:spcAft>
                <a:spcPts val="600"/>
              </a:spcAft>
              <a:buFont typeface="Arial" panose="020B0604020202020204" pitchFamily="34" charset="0"/>
              <a:buChar char="•"/>
            </a:pPr>
            <a:r>
              <a:rPr lang="en-US" sz="1400" dirty="0"/>
              <a:t>LM2500: </a:t>
            </a:r>
          </a:p>
          <a:p>
            <a:pPr marL="742950" lvl="1" indent="-285750">
              <a:spcAft>
                <a:spcPts val="600"/>
              </a:spcAft>
              <a:buFont typeface="Arial" panose="020B0604020202020204" pitchFamily="34" charset="0"/>
              <a:buChar char="•"/>
            </a:pPr>
            <a:r>
              <a:rPr lang="en-US" sz="1400" dirty="0"/>
              <a:t>Nameplate**: 32MW</a:t>
            </a:r>
          </a:p>
          <a:p>
            <a:pPr marL="742950" lvl="1" indent="-285750">
              <a:spcAft>
                <a:spcPts val="600"/>
              </a:spcAft>
              <a:buFont typeface="Arial" panose="020B0604020202020204" pitchFamily="34" charset="0"/>
              <a:buChar char="•"/>
            </a:pPr>
            <a:r>
              <a:rPr lang="en-US" sz="1400" dirty="0"/>
              <a:t>Eff%**: 36.7%</a:t>
            </a:r>
          </a:p>
          <a:p>
            <a:pPr>
              <a:spcAft>
                <a:spcPts val="600"/>
              </a:spcAft>
            </a:pPr>
            <a:r>
              <a:rPr lang="en-US" sz="1400" dirty="0"/>
              <a:t>**: Nameplate &amp; eff% @ ISO condition (15°C, 1Bar)</a:t>
            </a:r>
          </a:p>
        </p:txBody>
      </p:sp>
    </p:spTree>
    <p:extLst>
      <p:ext uri="{BB962C8B-B14F-4D97-AF65-F5344CB8AC3E}">
        <p14:creationId xmlns:p14="http://schemas.microsoft.com/office/powerpoint/2010/main" val="24814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C58A-85EA-2C4E-A284-9B7340CA7ECF}"/>
              </a:ext>
            </a:extLst>
          </p:cNvPr>
          <p:cNvSpPr>
            <a:spLocks noGrp="1"/>
          </p:cNvSpPr>
          <p:nvPr>
            <p:ph type="title"/>
          </p:nvPr>
        </p:nvSpPr>
        <p:spPr/>
        <p:txBody>
          <a:bodyPr/>
          <a:lstStyle/>
          <a:p>
            <a:r>
              <a:rPr lang="en-US" dirty="0">
                <a:solidFill>
                  <a:srgbClr val="035759"/>
                </a:solidFill>
              </a:rPr>
              <a:t>Model Assumptions </a:t>
            </a:r>
            <a:endParaRPr lang="en-US" dirty="0"/>
          </a:p>
        </p:txBody>
      </p:sp>
      <p:sp>
        <p:nvSpPr>
          <p:cNvPr id="3" name="Footer Placeholder 2">
            <a:extLst>
              <a:ext uri="{FF2B5EF4-FFF2-40B4-BE49-F238E27FC236}">
                <a16:creationId xmlns:a16="http://schemas.microsoft.com/office/drawing/2014/main" id="{6D674D20-27A5-3047-A29B-AE3848DEE9B3}"/>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2023 GE Vernova and/or its affiliates. All rights reserved.</a:t>
            </a:r>
          </a:p>
        </p:txBody>
      </p:sp>
      <p:sp>
        <p:nvSpPr>
          <p:cNvPr id="7" name="Slide Number Placeholder 6">
            <a:extLst>
              <a:ext uri="{FF2B5EF4-FFF2-40B4-BE49-F238E27FC236}">
                <a16:creationId xmlns:a16="http://schemas.microsoft.com/office/drawing/2014/main" id="{50514A31-B8CC-C094-1EC6-0BE799E3A81E}"/>
              </a:ext>
            </a:extLst>
          </p:cNvPr>
          <p:cNvSpPr>
            <a:spLocks noGrp="1"/>
          </p:cNvSpPr>
          <p:nvPr>
            <p:ph type="sldNum" sz="quarter" idx="12"/>
          </p:nvPr>
        </p:nvSpPr>
        <p:spPr/>
        <p:txBody>
          <a:bodyPr/>
          <a:lstStyle/>
          <a:p>
            <a:fld id="{7A7A97EF-C944-4447-B862-B593E9B4A0FF}" type="slidenum">
              <a:rPr lang="en-US" smtClean="0"/>
              <a:t>5</a:t>
            </a:fld>
            <a:endParaRPr lang="en-US" dirty="0"/>
          </a:p>
        </p:txBody>
      </p:sp>
      <p:sp>
        <p:nvSpPr>
          <p:cNvPr id="5" name="Content Placeholder 4">
            <a:extLst>
              <a:ext uri="{FF2B5EF4-FFF2-40B4-BE49-F238E27FC236}">
                <a16:creationId xmlns:a16="http://schemas.microsoft.com/office/drawing/2014/main" id="{C317AF21-67D5-ACF8-98CB-0F07B5AB7AB9}"/>
              </a:ext>
            </a:extLst>
          </p:cNvPr>
          <p:cNvSpPr txBox="1">
            <a:spLocks/>
          </p:cNvSpPr>
          <p:nvPr/>
        </p:nvSpPr>
        <p:spPr>
          <a:xfrm>
            <a:off x="347382" y="876121"/>
            <a:ext cx="5434853" cy="4628208"/>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b="1" dirty="0">
                <a:solidFill>
                  <a:schemeClr val="tx1"/>
                </a:solidFill>
              </a:rPr>
              <a:t>Financial assumptions: </a:t>
            </a:r>
          </a:p>
          <a:p>
            <a:pPr marL="534924" lvl="1" indent="-342900"/>
            <a:r>
              <a:rPr lang="en-US" dirty="0">
                <a:solidFill>
                  <a:schemeClr val="tx1"/>
                </a:solidFill>
                <a:latin typeface="Inter" panose="020B0502030000000004" pitchFamily="34" charset="0"/>
              </a:rPr>
              <a:t>70% debt @ 6% w/ 15yr tenor; </a:t>
            </a:r>
          </a:p>
          <a:p>
            <a:pPr marL="534924" lvl="1" indent="-342900"/>
            <a:r>
              <a:rPr lang="en-US" dirty="0">
                <a:solidFill>
                  <a:schemeClr val="tx1"/>
                </a:solidFill>
                <a:latin typeface="Inter" panose="020B0502030000000004" pitchFamily="34" charset="0"/>
              </a:rPr>
              <a:t>30% equity @ 6% hurdle rate</a:t>
            </a:r>
          </a:p>
          <a:p>
            <a:pPr marL="534924" lvl="1" indent="-342900"/>
            <a:r>
              <a:rPr lang="en-US" dirty="0">
                <a:solidFill>
                  <a:schemeClr val="tx1"/>
                </a:solidFill>
                <a:latin typeface="Inter" panose="020B0502030000000004" pitchFamily="34" charset="0"/>
              </a:rPr>
              <a:t>Project lifetime: 20 yr. </a:t>
            </a:r>
          </a:p>
          <a:p>
            <a:pPr marL="534924" lvl="1" indent="-342900"/>
            <a:r>
              <a:rPr lang="en-US" dirty="0">
                <a:solidFill>
                  <a:schemeClr val="tx1"/>
                </a:solidFill>
                <a:latin typeface="Inter" panose="020B0502030000000004" pitchFamily="34" charset="0"/>
              </a:rPr>
              <a:t>Residual value @ project end: 0%</a:t>
            </a:r>
          </a:p>
          <a:p>
            <a:pPr marL="534924" lvl="1" indent="-342900"/>
            <a:r>
              <a:rPr lang="en-US" dirty="0">
                <a:solidFill>
                  <a:schemeClr val="tx1"/>
                </a:solidFill>
                <a:latin typeface="Inter" panose="020B0502030000000004" pitchFamily="34" charset="0"/>
              </a:rPr>
              <a:t>Depreciation: </a:t>
            </a:r>
          </a:p>
          <a:p>
            <a:pPr marL="729234" lvl="2" indent="-342900"/>
            <a:r>
              <a:rPr lang="en-US" dirty="0">
                <a:solidFill>
                  <a:schemeClr val="tx1"/>
                </a:solidFill>
                <a:latin typeface="Inter" panose="020B0502030000000004" pitchFamily="34" charset="0"/>
              </a:rPr>
              <a:t>5yr MACRS for Wind/Solar/BESS.  </a:t>
            </a:r>
          </a:p>
          <a:p>
            <a:pPr marL="729234" lvl="2" indent="-342900"/>
            <a:r>
              <a:rPr lang="en-US" dirty="0">
                <a:solidFill>
                  <a:schemeClr val="tx1"/>
                </a:solidFill>
                <a:latin typeface="Inter" panose="020B0502030000000004" pitchFamily="34" charset="0"/>
              </a:rPr>
              <a:t>15yr linear for GT. </a:t>
            </a:r>
          </a:p>
          <a:p>
            <a:pPr marL="534924" lvl="1" indent="-342900"/>
            <a:r>
              <a:rPr lang="en-US" dirty="0">
                <a:solidFill>
                  <a:schemeClr val="tx1"/>
                </a:solidFill>
                <a:latin typeface="Inter" panose="020B0502030000000004" pitchFamily="34" charset="0"/>
              </a:rPr>
              <a:t>Inflation: 2.5% y/y. </a:t>
            </a:r>
          </a:p>
          <a:p>
            <a:pPr marL="534924" lvl="1" indent="-342900"/>
            <a:r>
              <a:rPr lang="en-US" dirty="0">
                <a:solidFill>
                  <a:schemeClr val="tx1"/>
                </a:solidFill>
                <a:latin typeface="Inter" panose="020B0502030000000004" pitchFamily="34" charset="0"/>
              </a:rPr>
              <a:t>Income tax: 21%</a:t>
            </a:r>
          </a:p>
          <a:p>
            <a:pPr marL="534924" lvl="1" indent="-342900"/>
            <a:r>
              <a:rPr lang="en-US" dirty="0">
                <a:solidFill>
                  <a:schemeClr val="tx1"/>
                </a:solidFill>
                <a:latin typeface="Inter" panose="020B0502030000000004" pitchFamily="34" charset="0"/>
              </a:rPr>
              <a:t>Subsidy: </a:t>
            </a:r>
          </a:p>
          <a:p>
            <a:pPr marL="729234" lvl="2" indent="-342900"/>
            <a:r>
              <a:rPr lang="en-US" dirty="0">
                <a:solidFill>
                  <a:schemeClr val="tx1"/>
                </a:solidFill>
                <a:latin typeface="Inter" panose="020B0502030000000004" pitchFamily="34" charset="0"/>
              </a:rPr>
              <a:t>30% ITC for BESS.</a:t>
            </a:r>
          </a:p>
          <a:p>
            <a:pPr marL="729234" lvl="2" indent="-342900"/>
            <a:r>
              <a:rPr lang="en-US" dirty="0">
                <a:solidFill>
                  <a:schemeClr val="tx1"/>
                </a:solidFill>
                <a:latin typeface="Inter" panose="020B0502030000000004" pitchFamily="34" charset="0"/>
              </a:rPr>
              <a:t>No PTC for Wind</a:t>
            </a:r>
          </a:p>
          <a:p>
            <a:pPr marL="729234" lvl="2" indent="-342900"/>
            <a:r>
              <a:rPr lang="en-US" dirty="0">
                <a:solidFill>
                  <a:schemeClr val="tx1"/>
                </a:solidFill>
                <a:latin typeface="Inter" panose="020B0502030000000004" pitchFamily="34" charset="0"/>
              </a:rPr>
              <a:t>No ITC for Solar. </a:t>
            </a:r>
          </a:p>
        </p:txBody>
      </p:sp>
      <p:sp>
        <p:nvSpPr>
          <p:cNvPr id="9" name="Content Placeholder 4">
            <a:extLst>
              <a:ext uri="{FF2B5EF4-FFF2-40B4-BE49-F238E27FC236}">
                <a16:creationId xmlns:a16="http://schemas.microsoft.com/office/drawing/2014/main" id="{38842C26-80C5-D041-4A9F-FF0EA7A47A9D}"/>
              </a:ext>
            </a:extLst>
          </p:cNvPr>
          <p:cNvSpPr txBox="1">
            <a:spLocks/>
          </p:cNvSpPr>
          <p:nvPr/>
        </p:nvSpPr>
        <p:spPr>
          <a:xfrm>
            <a:off x="6409767" y="3434264"/>
            <a:ext cx="5522257" cy="207006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spcAft>
                <a:spcPts val="600"/>
              </a:spcAft>
            </a:pPr>
            <a:r>
              <a:rPr lang="en-US" b="1" dirty="0">
                <a:solidFill>
                  <a:schemeClr val="tx1"/>
                </a:solidFill>
                <a:latin typeface="Inter" panose="020B0502030000000004" pitchFamily="34" charset="0"/>
              </a:rPr>
              <a:t>OPEX assumptions </a:t>
            </a:r>
            <a:r>
              <a:rPr lang="en-US" dirty="0">
                <a:solidFill>
                  <a:schemeClr val="tx1"/>
                </a:solidFill>
                <a:latin typeface="Inter" panose="020B0502030000000004" pitchFamily="34" charset="0"/>
              </a:rPr>
              <a:t>(adjust w/ inflation yr over yr): </a:t>
            </a:r>
          </a:p>
          <a:p>
            <a:pPr marL="534924" lvl="1" indent="-342900"/>
            <a:r>
              <a:rPr lang="en-US" dirty="0">
                <a:solidFill>
                  <a:schemeClr val="tx1"/>
                </a:solidFill>
                <a:latin typeface="Inter" panose="020B0502030000000004" pitchFamily="34" charset="0"/>
              </a:rPr>
              <a:t>Wind O&amp;M: $18/kW/yr.</a:t>
            </a:r>
          </a:p>
          <a:p>
            <a:pPr marL="534924" lvl="1" indent="-342900"/>
            <a:r>
              <a:rPr lang="en-US" dirty="0">
                <a:solidFill>
                  <a:schemeClr val="tx1"/>
                </a:solidFill>
                <a:latin typeface="Inter" panose="020B0502030000000004" pitchFamily="34" charset="0"/>
              </a:rPr>
              <a:t>Solar: $7.05/</a:t>
            </a:r>
            <a:r>
              <a:rPr lang="en-US" dirty="0" err="1">
                <a:solidFill>
                  <a:schemeClr val="tx1"/>
                </a:solidFill>
                <a:latin typeface="Inter" panose="020B0502030000000004" pitchFamily="34" charset="0"/>
              </a:rPr>
              <a:t>kW</a:t>
            </a:r>
            <a:r>
              <a:rPr lang="en-US" baseline="-25000" dirty="0" err="1">
                <a:solidFill>
                  <a:schemeClr val="tx1"/>
                </a:solidFill>
                <a:latin typeface="Inter" panose="020B0502030000000004" pitchFamily="34" charset="0"/>
              </a:rPr>
              <a:t>ac</a:t>
            </a:r>
            <a:r>
              <a:rPr lang="en-US" dirty="0">
                <a:solidFill>
                  <a:schemeClr val="tx1"/>
                </a:solidFill>
                <a:latin typeface="Inter" panose="020B0502030000000004" pitchFamily="34" charset="0"/>
              </a:rPr>
              <a:t>/yr</a:t>
            </a:r>
          </a:p>
          <a:p>
            <a:pPr marL="534924" lvl="1" indent="-342900"/>
            <a:r>
              <a:rPr lang="en-US" dirty="0">
                <a:solidFill>
                  <a:schemeClr val="tx1"/>
                </a:solidFill>
                <a:latin typeface="Inter" panose="020B0502030000000004" pitchFamily="34" charset="0"/>
              </a:rPr>
              <a:t>BESS O&amp;M: $13/kw/yr.</a:t>
            </a:r>
          </a:p>
          <a:p>
            <a:pPr marL="534924" lvl="1" indent="-342900"/>
            <a:r>
              <a:rPr lang="en-US" dirty="0">
                <a:solidFill>
                  <a:schemeClr val="tx1"/>
                </a:solidFill>
                <a:latin typeface="Inter" panose="020B0502030000000004" pitchFamily="34" charset="0"/>
              </a:rPr>
              <a:t>GT O&amp;M: $15/ </a:t>
            </a:r>
            <a:r>
              <a:rPr lang="en-US" dirty="0" err="1">
                <a:solidFill>
                  <a:schemeClr val="tx1"/>
                </a:solidFill>
                <a:latin typeface="Inter" panose="020B0502030000000004" pitchFamily="34" charset="0"/>
              </a:rPr>
              <a:t>kW</a:t>
            </a:r>
            <a:r>
              <a:rPr lang="en-US" baseline="-25000" dirty="0" err="1">
                <a:solidFill>
                  <a:schemeClr val="tx1"/>
                </a:solidFill>
                <a:latin typeface="Inter" panose="020B0502030000000004" pitchFamily="34" charset="0"/>
              </a:rPr>
              <a:t>ac</a:t>
            </a:r>
            <a:r>
              <a:rPr lang="en-US" dirty="0">
                <a:solidFill>
                  <a:schemeClr val="tx1"/>
                </a:solidFill>
                <a:latin typeface="Inter" panose="020B0502030000000004" pitchFamily="34" charset="0"/>
              </a:rPr>
              <a:t>/yr fixed, $10/MWh variable. </a:t>
            </a:r>
          </a:p>
          <a:p>
            <a:pPr marL="534924" lvl="1" indent="-342900"/>
            <a:r>
              <a:rPr lang="en-US" dirty="0">
                <a:solidFill>
                  <a:schemeClr val="tx1"/>
                </a:solidFill>
                <a:latin typeface="Inter" panose="020B0502030000000004" pitchFamily="34" charset="0"/>
              </a:rPr>
              <a:t>NG: $3.5/MMBTU. </a:t>
            </a:r>
          </a:p>
        </p:txBody>
      </p:sp>
      <p:sp>
        <p:nvSpPr>
          <p:cNvPr id="10" name="Content Placeholder 4">
            <a:extLst>
              <a:ext uri="{FF2B5EF4-FFF2-40B4-BE49-F238E27FC236}">
                <a16:creationId xmlns:a16="http://schemas.microsoft.com/office/drawing/2014/main" id="{4E3F61C0-BF2E-5DD7-1BF2-13521995C789}"/>
              </a:ext>
            </a:extLst>
          </p:cNvPr>
          <p:cNvSpPr txBox="1">
            <a:spLocks/>
          </p:cNvSpPr>
          <p:nvPr/>
        </p:nvSpPr>
        <p:spPr>
          <a:xfrm>
            <a:off x="6409767" y="1055415"/>
            <a:ext cx="4997158" cy="2252561"/>
          </a:xfrm>
          <a:prstGeom prst="rect">
            <a:avLst/>
          </a:prstGeom>
        </p:spPr>
        <p:txBody>
          <a:bodyPr vert="horz" lIns="0" tIns="0" rIns="0" bIns="0" rtlCol="0">
            <a:noAutofit/>
          </a:bodyPr>
          <a:lstStyle>
            <a:lvl1pPr marL="192024" indent="-192024" algn="l" defTabSz="914400" rtl="0" eaLnBrk="1" latinLnBrk="0" hangingPunct="1">
              <a:lnSpc>
                <a:spcPct val="99000"/>
              </a:lnSpc>
              <a:spcBef>
                <a:spcPts val="1400"/>
              </a:spcBef>
              <a:spcAft>
                <a:spcPts val="0"/>
              </a:spcAft>
              <a:buFont typeface="Arial" panose="020B0604020202020204" pitchFamily="34" charset="0"/>
              <a:buChar char="•"/>
              <a:defRPr sz="2800" kern="1200">
                <a:solidFill>
                  <a:schemeClr val="accent2"/>
                </a:solidFill>
                <a:latin typeface="+mn-lt"/>
                <a:ea typeface="+mn-ea"/>
                <a:cs typeface="+mn-cs"/>
              </a:defRPr>
            </a:lvl1pPr>
            <a:lvl2pPr marL="192024" indent="0" algn="l" defTabSz="914400" rtl="0" eaLnBrk="1" latinLnBrk="0" hangingPunct="1">
              <a:lnSpc>
                <a:spcPct val="99000"/>
              </a:lnSpc>
              <a:spcBef>
                <a:spcPts val="0"/>
              </a:spcBef>
              <a:buFontTx/>
              <a:buNone/>
              <a:defRPr sz="2800" kern="1200">
                <a:solidFill>
                  <a:schemeClr val="accent2"/>
                </a:solidFill>
                <a:latin typeface="+mn-lt"/>
                <a:ea typeface="+mn-ea"/>
                <a:cs typeface="+mn-cs"/>
              </a:defRPr>
            </a:lvl2pPr>
            <a:lvl3pPr marL="192088" indent="-192088" algn="l" defTabSz="914400" rtl="0" eaLnBrk="1" latinLnBrk="0" hangingPunct="1">
              <a:lnSpc>
                <a:spcPct val="99000"/>
              </a:lnSpc>
              <a:spcBef>
                <a:spcPts val="1200"/>
              </a:spcBef>
              <a:buSzPct val="91000"/>
              <a:buFont typeface="Arial" panose="020B0604020202020204" pitchFamily="34" charset="0"/>
              <a:buChar char="•"/>
              <a:defRPr sz="2400" kern="1200">
                <a:solidFill>
                  <a:schemeClr val="accent2"/>
                </a:solidFill>
                <a:latin typeface="+mn-lt"/>
                <a:ea typeface="+mn-ea"/>
                <a:cs typeface="+mn-cs"/>
              </a:defRPr>
            </a:lvl3pPr>
            <a:lvl4pPr marL="192024" indent="0" algn="l" defTabSz="914400" rtl="0" eaLnBrk="1" latinLnBrk="0" hangingPunct="1">
              <a:lnSpc>
                <a:spcPct val="99000"/>
              </a:lnSpc>
              <a:spcBef>
                <a:spcPts val="0"/>
              </a:spcBef>
              <a:buFontTx/>
              <a:buNone/>
              <a:defRPr sz="2400" kern="1200">
                <a:solidFill>
                  <a:schemeClr val="accent2"/>
                </a:solidFill>
                <a:latin typeface="+mn-lt"/>
                <a:ea typeface="+mn-ea"/>
                <a:cs typeface="+mn-cs"/>
              </a:defRPr>
            </a:lvl4pPr>
            <a:lvl5pPr marL="192024" indent="-192024" algn="l" defTabSz="914400" rtl="0" eaLnBrk="1" latinLnBrk="0" hangingPunct="1">
              <a:lnSpc>
                <a:spcPct val="99000"/>
              </a:lnSpc>
              <a:spcBef>
                <a:spcPts val="900"/>
              </a:spcBef>
              <a:buSzPct val="91000"/>
              <a:buFont typeface="Arial" panose="020B0604020202020204" pitchFamily="34" charset="0"/>
              <a:buChar char="•"/>
              <a:defRPr sz="1800" kern="1200">
                <a:solidFill>
                  <a:schemeClr val="accent2"/>
                </a:solidFill>
                <a:latin typeface="+mn-lt"/>
                <a:ea typeface="+mn-ea"/>
                <a:cs typeface="+mn-cs"/>
              </a:defRPr>
            </a:lvl5pPr>
            <a:lvl6pPr marL="192024"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6pPr>
            <a:lvl7pPr marL="0" indent="0" algn="l" defTabSz="914400" rtl="0" eaLnBrk="1" latinLnBrk="0" hangingPunct="1">
              <a:lnSpc>
                <a:spcPct val="99000"/>
              </a:lnSpc>
              <a:spcBef>
                <a:spcPts val="900"/>
              </a:spcBef>
              <a:buSzPct val="91000"/>
              <a:buFontTx/>
              <a:buNone/>
              <a:defRPr sz="1800" b="1" kern="1200">
                <a:solidFill>
                  <a:schemeClr val="accent2"/>
                </a:solidFill>
                <a:latin typeface="+mn-lt"/>
                <a:ea typeface="+mn-ea"/>
                <a:cs typeface="+mn-cs"/>
              </a:defRPr>
            </a:lvl7pPr>
            <a:lvl8pPr marL="0" indent="0" algn="l" defTabSz="914400" rtl="0" eaLnBrk="1" latinLnBrk="0" hangingPunct="1">
              <a:lnSpc>
                <a:spcPct val="99000"/>
              </a:lnSpc>
              <a:spcBef>
                <a:spcPts val="0"/>
              </a:spcBef>
              <a:buSzPct val="91000"/>
              <a:buFontTx/>
              <a:buNone/>
              <a:defRPr sz="1800" kern="1200">
                <a:solidFill>
                  <a:schemeClr val="accent2"/>
                </a:solidFill>
                <a:latin typeface="+mn-lt"/>
                <a:ea typeface="+mn-ea"/>
                <a:cs typeface="+mn-cs"/>
              </a:defRPr>
            </a:lvl8pPr>
            <a:lvl9pPr marL="0" indent="0" algn="l" defTabSz="914400" rtl="0" eaLnBrk="1" latinLnBrk="0" hangingPunct="1">
              <a:lnSpc>
                <a:spcPct val="99000"/>
              </a:lnSpc>
              <a:spcBef>
                <a:spcPts val="900"/>
              </a:spcBef>
              <a:buSzPct val="91000"/>
              <a:buFontTx/>
              <a:buNone/>
              <a:defRPr sz="1800" i="1" kern="1200">
                <a:solidFill>
                  <a:schemeClr val="accent2"/>
                </a:solidFill>
                <a:latin typeface="+mn-lt"/>
                <a:ea typeface="+mn-ea"/>
                <a:cs typeface="+mn-cs"/>
              </a:defRPr>
            </a:lvl9pPr>
          </a:lstStyle>
          <a:p>
            <a:pPr marL="0" indent="0">
              <a:lnSpc>
                <a:spcPct val="100000"/>
              </a:lnSpc>
              <a:spcBef>
                <a:spcPts val="300"/>
              </a:spcBef>
              <a:spcAft>
                <a:spcPts val="600"/>
              </a:spcAft>
              <a:buNone/>
            </a:pPr>
            <a:r>
              <a:rPr lang="en-US" sz="1600" b="1" dirty="0">
                <a:solidFill>
                  <a:schemeClr val="tx1"/>
                </a:solidFill>
              </a:rPr>
              <a:t>CAPEX assumptions : </a:t>
            </a:r>
            <a:r>
              <a:rPr lang="en-US" sz="1600" dirty="0">
                <a:solidFill>
                  <a:schemeClr val="tx1"/>
                </a:solidFill>
              </a:rPr>
              <a:t>.</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Wind: $2000/kW.</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Solar: $ 1600/</a:t>
            </a:r>
            <a:r>
              <a:rPr lang="en-US" sz="1600" dirty="0" err="1">
                <a:solidFill>
                  <a:schemeClr val="tx1"/>
                </a:solidFill>
                <a:latin typeface="Inter" panose="020B0502030000000004" pitchFamily="34" charset="0"/>
              </a:rPr>
              <a:t>kW</a:t>
            </a:r>
            <a:r>
              <a:rPr lang="en-US" sz="1600" baseline="-25000" dirty="0" err="1">
                <a:solidFill>
                  <a:schemeClr val="tx1"/>
                </a:solidFill>
                <a:latin typeface="Inter" panose="020B0502030000000004" pitchFamily="34" charset="0"/>
              </a:rPr>
              <a:t>ac</a:t>
            </a:r>
            <a:r>
              <a:rPr lang="en-US" sz="1600" dirty="0">
                <a:solidFill>
                  <a:schemeClr val="tx1"/>
                </a:solidFill>
                <a:latin typeface="Inter" panose="020B0502030000000004" pitchFamily="34" charset="0"/>
              </a:rPr>
              <a:t> @ DC/AC=1.35</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BESS: $238/kWh.</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LM2500: $3000/kW.</a:t>
            </a:r>
          </a:p>
          <a:p>
            <a:pPr marL="477774" lvl="1" indent="-285750">
              <a:lnSpc>
                <a:spcPct val="100000"/>
              </a:lnSpc>
              <a:spcAft>
                <a:spcPts val="600"/>
              </a:spcAft>
              <a:buFont typeface="Arial" panose="020B0604020202020204" pitchFamily="34" charset="0"/>
              <a:buChar char="•"/>
            </a:pPr>
            <a:r>
              <a:rPr lang="en-US" sz="1600" dirty="0">
                <a:solidFill>
                  <a:schemeClr val="tx1"/>
                </a:solidFill>
                <a:latin typeface="Inter" panose="020B0502030000000004" pitchFamily="34" charset="0"/>
              </a:rPr>
              <a:t>Substation/BOP: $50M  </a:t>
            </a:r>
          </a:p>
        </p:txBody>
      </p:sp>
    </p:spTree>
    <p:extLst>
      <p:ext uri="{BB962C8B-B14F-4D97-AF65-F5344CB8AC3E}">
        <p14:creationId xmlns:p14="http://schemas.microsoft.com/office/powerpoint/2010/main" val="113364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ABA3-B09C-E4CD-EA2B-AA6E659D9EF2}"/>
              </a:ext>
            </a:extLst>
          </p:cNvPr>
          <p:cNvSpPr>
            <a:spLocks noGrp="1"/>
          </p:cNvSpPr>
          <p:nvPr>
            <p:ph type="title"/>
          </p:nvPr>
        </p:nvSpPr>
        <p:spPr>
          <a:xfrm>
            <a:off x="419100" y="419100"/>
            <a:ext cx="9578915" cy="845495"/>
          </a:xfrm>
        </p:spPr>
        <p:txBody>
          <a:bodyPr/>
          <a:lstStyle/>
          <a:p>
            <a:r>
              <a:rPr lang="en-US" dirty="0"/>
              <a:t>LCOE vs. Plant Load Compliance</a:t>
            </a:r>
          </a:p>
        </p:txBody>
      </p:sp>
      <p:sp>
        <p:nvSpPr>
          <p:cNvPr id="2" name="Slide Number Placeholder 1">
            <a:extLst>
              <a:ext uri="{FF2B5EF4-FFF2-40B4-BE49-F238E27FC236}">
                <a16:creationId xmlns:a16="http://schemas.microsoft.com/office/drawing/2014/main" id="{1C212B14-F4DF-6DF5-F21F-E97D2D9CEA09}"/>
              </a:ext>
            </a:extLst>
          </p:cNvPr>
          <p:cNvSpPr>
            <a:spLocks noGrp="1"/>
          </p:cNvSpPr>
          <p:nvPr>
            <p:ph type="sldNum" sz="quarter" idx="12"/>
          </p:nvPr>
        </p:nvSpPr>
        <p:spPr/>
        <p:txBody>
          <a:bodyPr/>
          <a:lstStyle/>
          <a:p>
            <a:fld id="{7A7A97EF-C944-4447-B862-B593E9B4A0FF}" type="slidenum">
              <a:rPr lang="en-US" smtClean="0"/>
              <a:t>6</a:t>
            </a:fld>
            <a:endParaRPr lang="en-US" dirty="0"/>
          </a:p>
        </p:txBody>
      </p:sp>
      <p:sp>
        <p:nvSpPr>
          <p:cNvPr id="3" name="Footer Placeholder 2">
            <a:extLst>
              <a:ext uri="{FF2B5EF4-FFF2-40B4-BE49-F238E27FC236}">
                <a16:creationId xmlns:a16="http://schemas.microsoft.com/office/drawing/2014/main" id="{7C467202-9843-04F8-AA31-5355E90B3A31}"/>
              </a:ext>
            </a:extLst>
          </p:cNvPr>
          <p:cNvSpPr>
            <a:spLocks noGrp="1"/>
          </p:cNvSpPr>
          <p:nvPr>
            <p:ph type="ftr" sz="quarter" idx="4294967295"/>
          </p:nvPr>
        </p:nvSpPr>
        <p:spPr>
          <a:xfrm>
            <a:off x="419100" y="6492875"/>
            <a:ext cx="10248900" cy="244653"/>
          </a:xfrm>
        </p:spPr>
        <p:txBody>
          <a:bodyPr/>
          <a:lstStyle/>
          <a:p>
            <a:pPr defTabSz="914126" rtl="0">
              <a:spcBef>
                <a:spcPts val="0"/>
              </a:spcBef>
            </a:pPr>
            <a:r>
              <a:rPr lang="en-US" sz="800" dirty="0">
                <a:ea typeface="Inter" panose="02000503000000020004" pitchFamily="2" charset="0"/>
              </a:rPr>
              <a:t>© 2026 GE Vernova and/or its affiliates. All rights reserved.</a:t>
            </a:r>
            <a:endParaRPr lang="en-US" sz="800" kern="1200" dirty="0"/>
          </a:p>
        </p:txBody>
      </p:sp>
      <p:pic>
        <p:nvPicPr>
          <p:cNvPr id="6" name="Picture 5">
            <a:extLst>
              <a:ext uri="{FF2B5EF4-FFF2-40B4-BE49-F238E27FC236}">
                <a16:creationId xmlns:a16="http://schemas.microsoft.com/office/drawing/2014/main" id="{2E933D44-2D03-E1F8-51B4-9B7E4038F84A}"/>
              </a:ext>
            </a:extLst>
          </p:cNvPr>
          <p:cNvPicPr>
            <a:picLocks noChangeAspect="1"/>
          </p:cNvPicPr>
          <p:nvPr/>
        </p:nvPicPr>
        <p:blipFill>
          <a:blip r:embed="rId2"/>
          <a:stretch>
            <a:fillRect/>
          </a:stretch>
        </p:blipFill>
        <p:spPr>
          <a:xfrm>
            <a:off x="969819" y="1264595"/>
            <a:ext cx="4366290" cy="5106613"/>
          </a:xfrm>
          <a:prstGeom prst="rect">
            <a:avLst/>
          </a:prstGeom>
        </p:spPr>
      </p:pic>
      <p:sp>
        <p:nvSpPr>
          <p:cNvPr id="7" name="TextBox 6">
            <a:extLst>
              <a:ext uri="{FF2B5EF4-FFF2-40B4-BE49-F238E27FC236}">
                <a16:creationId xmlns:a16="http://schemas.microsoft.com/office/drawing/2014/main" id="{D0400830-59ED-198B-86F1-2F62423E9C86}"/>
              </a:ext>
            </a:extLst>
          </p:cNvPr>
          <p:cNvSpPr txBox="1"/>
          <p:nvPr/>
        </p:nvSpPr>
        <p:spPr>
          <a:xfrm>
            <a:off x="1120735" y="917842"/>
            <a:ext cx="4215374" cy="256908"/>
          </a:xfrm>
          <a:prstGeom prst="rect">
            <a:avLst/>
          </a:prstGeom>
          <a:noFill/>
        </p:spPr>
        <p:txBody>
          <a:bodyPr wrap="square" lIns="0" tIns="0" rIns="0" bIns="0" rtlCol="0">
            <a:noAutofit/>
          </a:bodyPr>
          <a:lstStyle/>
          <a:p>
            <a:pPr algn="ctr">
              <a:spcAft>
                <a:spcPts val="600"/>
              </a:spcAft>
            </a:pPr>
            <a:r>
              <a:rPr lang="en-US" dirty="0"/>
              <a:t>Plot for All the Configurations</a:t>
            </a:r>
          </a:p>
        </p:txBody>
      </p:sp>
      <p:pic>
        <p:nvPicPr>
          <p:cNvPr id="11" name="Picture 10">
            <a:extLst>
              <a:ext uri="{FF2B5EF4-FFF2-40B4-BE49-F238E27FC236}">
                <a16:creationId xmlns:a16="http://schemas.microsoft.com/office/drawing/2014/main" id="{6995568F-BF18-8C12-766D-1C351D93EC55}"/>
              </a:ext>
            </a:extLst>
          </p:cNvPr>
          <p:cNvPicPr>
            <a:picLocks noChangeAspect="1"/>
          </p:cNvPicPr>
          <p:nvPr/>
        </p:nvPicPr>
        <p:blipFill>
          <a:blip r:embed="rId3"/>
          <a:stretch>
            <a:fillRect/>
          </a:stretch>
        </p:blipFill>
        <p:spPr>
          <a:xfrm>
            <a:off x="6855892" y="1325428"/>
            <a:ext cx="4366290" cy="5106613"/>
          </a:xfrm>
          <a:prstGeom prst="rect">
            <a:avLst/>
          </a:prstGeom>
        </p:spPr>
      </p:pic>
      <p:sp>
        <p:nvSpPr>
          <p:cNvPr id="12" name="TextBox 11">
            <a:extLst>
              <a:ext uri="{FF2B5EF4-FFF2-40B4-BE49-F238E27FC236}">
                <a16:creationId xmlns:a16="http://schemas.microsoft.com/office/drawing/2014/main" id="{6B768DFE-77AF-DAF3-01CE-908BF0716501}"/>
              </a:ext>
            </a:extLst>
          </p:cNvPr>
          <p:cNvSpPr txBox="1"/>
          <p:nvPr/>
        </p:nvSpPr>
        <p:spPr>
          <a:xfrm>
            <a:off x="6155764" y="917842"/>
            <a:ext cx="5766546" cy="256908"/>
          </a:xfrm>
          <a:prstGeom prst="rect">
            <a:avLst/>
          </a:prstGeom>
          <a:noFill/>
        </p:spPr>
        <p:txBody>
          <a:bodyPr wrap="square" lIns="0" tIns="0" rIns="0" bIns="0" rtlCol="0">
            <a:noAutofit/>
          </a:bodyPr>
          <a:lstStyle/>
          <a:p>
            <a:pPr algn="ctr">
              <a:spcAft>
                <a:spcPts val="600"/>
              </a:spcAft>
            </a:pPr>
            <a:r>
              <a:rPr lang="en-US" dirty="0"/>
              <a:t>Plot for Renewable Only Configurations (no GT)</a:t>
            </a:r>
          </a:p>
        </p:txBody>
      </p:sp>
    </p:spTree>
    <p:extLst>
      <p:ext uri="{BB962C8B-B14F-4D97-AF65-F5344CB8AC3E}">
        <p14:creationId xmlns:p14="http://schemas.microsoft.com/office/powerpoint/2010/main" val="197291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08ABA3-B09C-E4CD-EA2B-AA6E659D9EF2}"/>
              </a:ext>
            </a:extLst>
          </p:cNvPr>
          <p:cNvSpPr>
            <a:spLocks noGrp="1"/>
          </p:cNvSpPr>
          <p:nvPr>
            <p:ph type="title"/>
          </p:nvPr>
        </p:nvSpPr>
        <p:spPr>
          <a:xfrm>
            <a:off x="419100" y="419100"/>
            <a:ext cx="9578915" cy="845495"/>
          </a:xfrm>
        </p:spPr>
        <p:txBody>
          <a:bodyPr/>
          <a:lstStyle/>
          <a:p>
            <a:r>
              <a:rPr lang="en-US" dirty="0"/>
              <a:t>LCOE vs. Carbon Free Energy %</a:t>
            </a:r>
          </a:p>
        </p:txBody>
      </p:sp>
      <p:sp>
        <p:nvSpPr>
          <p:cNvPr id="2" name="Slide Number Placeholder 1">
            <a:extLst>
              <a:ext uri="{FF2B5EF4-FFF2-40B4-BE49-F238E27FC236}">
                <a16:creationId xmlns:a16="http://schemas.microsoft.com/office/drawing/2014/main" id="{1C212B14-F4DF-6DF5-F21F-E97D2D9CEA09}"/>
              </a:ext>
            </a:extLst>
          </p:cNvPr>
          <p:cNvSpPr>
            <a:spLocks noGrp="1"/>
          </p:cNvSpPr>
          <p:nvPr>
            <p:ph type="sldNum" sz="quarter" idx="12"/>
          </p:nvPr>
        </p:nvSpPr>
        <p:spPr/>
        <p:txBody>
          <a:bodyPr/>
          <a:lstStyle/>
          <a:p>
            <a:fld id="{7A7A97EF-C944-4447-B862-B593E9B4A0FF}" type="slidenum">
              <a:rPr lang="en-US" smtClean="0"/>
              <a:t>7</a:t>
            </a:fld>
            <a:endParaRPr lang="en-US" dirty="0"/>
          </a:p>
        </p:txBody>
      </p:sp>
      <p:sp>
        <p:nvSpPr>
          <p:cNvPr id="3" name="Footer Placeholder 2">
            <a:extLst>
              <a:ext uri="{FF2B5EF4-FFF2-40B4-BE49-F238E27FC236}">
                <a16:creationId xmlns:a16="http://schemas.microsoft.com/office/drawing/2014/main" id="{7C467202-9843-04F8-AA31-5355E90B3A31}"/>
              </a:ext>
            </a:extLst>
          </p:cNvPr>
          <p:cNvSpPr>
            <a:spLocks noGrp="1"/>
          </p:cNvSpPr>
          <p:nvPr>
            <p:ph type="ftr" sz="quarter" idx="4294967295"/>
          </p:nvPr>
        </p:nvSpPr>
        <p:spPr/>
        <p:txBody>
          <a:bodyPr/>
          <a:lstStyle/>
          <a:p>
            <a:pPr defTabSz="914126" rtl="0">
              <a:spcBef>
                <a:spcPts val="0"/>
              </a:spcBef>
            </a:pPr>
            <a:r>
              <a:rPr lang="en-US" sz="800">
                <a:ea typeface="Inter" panose="02000503000000020004" pitchFamily="2" charset="0"/>
              </a:rPr>
              <a:t>© 2026 GE Vernova and/or its affiliates. All rights reserved.</a:t>
            </a:r>
            <a:endParaRPr lang="en-US" sz="800" kern="1200" dirty="0"/>
          </a:p>
        </p:txBody>
      </p:sp>
      <p:sp>
        <p:nvSpPr>
          <p:cNvPr id="6" name="TextBox 5">
            <a:extLst>
              <a:ext uri="{FF2B5EF4-FFF2-40B4-BE49-F238E27FC236}">
                <a16:creationId xmlns:a16="http://schemas.microsoft.com/office/drawing/2014/main" id="{0E645C26-51D8-6315-A1DA-2635AD8F93BA}"/>
              </a:ext>
            </a:extLst>
          </p:cNvPr>
          <p:cNvSpPr txBox="1"/>
          <p:nvPr/>
        </p:nvSpPr>
        <p:spPr>
          <a:xfrm>
            <a:off x="1148745" y="890359"/>
            <a:ext cx="4215374" cy="256908"/>
          </a:xfrm>
          <a:prstGeom prst="rect">
            <a:avLst/>
          </a:prstGeom>
          <a:noFill/>
        </p:spPr>
        <p:txBody>
          <a:bodyPr wrap="square" lIns="0" tIns="0" rIns="0" bIns="0" rtlCol="0">
            <a:noAutofit/>
          </a:bodyPr>
          <a:lstStyle/>
          <a:p>
            <a:pPr algn="ctr">
              <a:spcAft>
                <a:spcPts val="600"/>
              </a:spcAft>
            </a:pPr>
            <a:r>
              <a:rPr lang="en-US" dirty="0"/>
              <a:t>Plot for All the Configurations</a:t>
            </a:r>
          </a:p>
        </p:txBody>
      </p:sp>
      <p:pic>
        <p:nvPicPr>
          <p:cNvPr id="8" name="Picture 7">
            <a:extLst>
              <a:ext uri="{FF2B5EF4-FFF2-40B4-BE49-F238E27FC236}">
                <a16:creationId xmlns:a16="http://schemas.microsoft.com/office/drawing/2014/main" id="{5251AD32-5981-7289-4416-2A710FEDC746}"/>
              </a:ext>
            </a:extLst>
          </p:cNvPr>
          <p:cNvPicPr>
            <a:picLocks noChangeAspect="1"/>
          </p:cNvPicPr>
          <p:nvPr/>
        </p:nvPicPr>
        <p:blipFill>
          <a:blip r:embed="rId2"/>
          <a:stretch>
            <a:fillRect/>
          </a:stretch>
        </p:blipFill>
        <p:spPr>
          <a:xfrm>
            <a:off x="1087031" y="1264023"/>
            <a:ext cx="4338803" cy="5131626"/>
          </a:xfrm>
          <a:prstGeom prst="rect">
            <a:avLst/>
          </a:prstGeom>
        </p:spPr>
      </p:pic>
      <p:pic>
        <p:nvPicPr>
          <p:cNvPr id="12" name="Picture 11">
            <a:extLst>
              <a:ext uri="{FF2B5EF4-FFF2-40B4-BE49-F238E27FC236}">
                <a16:creationId xmlns:a16="http://schemas.microsoft.com/office/drawing/2014/main" id="{0F9B54E2-B2C6-10F9-A314-582A1E628A86}"/>
              </a:ext>
            </a:extLst>
          </p:cNvPr>
          <p:cNvPicPr>
            <a:picLocks noChangeAspect="1"/>
          </p:cNvPicPr>
          <p:nvPr/>
        </p:nvPicPr>
        <p:blipFill>
          <a:blip r:embed="rId3"/>
          <a:stretch>
            <a:fillRect/>
          </a:stretch>
        </p:blipFill>
        <p:spPr>
          <a:xfrm>
            <a:off x="6766168" y="1269044"/>
            <a:ext cx="4416763" cy="5223831"/>
          </a:xfrm>
          <a:prstGeom prst="rect">
            <a:avLst/>
          </a:prstGeom>
        </p:spPr>
      </p:pic>
      <p:sp>
        <p:nvSpPr>
          <p:cNvPr id="13" name="TextBox 12">
            <a:extLst>
              <a:ext uri="{FF2B5EF4-FFF2-40B4-BE49-F238E27FC236}">
                <a16:creationId xmlns:a16="http://schemas.microsoft.com/office/drawing/2014/main" id="{09DB0C1F-0B64-3677-13F6-5BFC4837CCAD}"/>
              </a:ext>
            </a:extLst>
          </p:cNvPr>
          <p:cNvSpPr txBox="1"/>
          <p:nvPr/>
        </p:nvSpPr>
        <p:spPr>
          <a:xfrm>
            <a:off x="6338050" y="905372"/>
            <a:ext cx="5163670" cy="256908"/>
          </a:xfrm>
          <a:prstGeom prst="rect">
            <a:avLst/>
          </a:prstGeom>
          <a:noFill/>
        </p:spPr>
        <p:txBody>
          <a:bodyPr wrap="square" lIns="0" tIns="0" rIns="0" bIns="0" rtlCol="0">
            <a:noAutofit/>
          </a:bodyPr>
          <a:lstStyle/>
          <a:p>
            <a:pPr algn="ctr">
              <a:spcAft>
                <a:spcPts val="600"/>
              </a:spcAft>
            </a:pPr>
            <a:r>
              <a:rPr lang="en-US" dirty="0"/>
              <a:t>Plot for 100% Load Compliance Configurations</a:t>
            </a:r>
          </a:p>
        </p:txBody>
      </p:sp>
    </p:spTree>
    <p:extLst>
      <p:ext uri="{BB962C8B-B14F-4D97-AF65-F5344CB8AC3E}">
        <p14:creationId xmlns:p14="http://schemas.microsoft.com/office/powerpoint/2010/main" val="31412263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DC58A-85EA-2C4E-A284-9B7340CA7ECF}"/>
              </a:ext>
            </a:extLst>
          </p:cNvPr>
          <p:cNvSpPr>
            <a:spLocks noGrp="1"/>
          </p:cNvSpPr>
          <p:nvPr>
            <p:ph type="title"/>
          </p:nvPr>
        </p:nvSpPr>
        <p:spPr>
          <a:xfrm>
            <a:off x="419100" y="311525"/>
            <a:ext cx="10078571" cy="457020"/>
          </a:xfrm>
        </p:spPr>
        <p:txBody>
          <a:bodyPr/>
          <a:lstStyle/>
          <a:p>
            <a:r>
              <a:rPr lang="en-US" dirty="0">
                <a:solidFill>
                  <a:srgbClr val="035759"/>
                </a:solidFill>
              </a:rPr>
              <a:t>Renewable Only Configuration with 100% Load Compliance</a:t>
            </a:r>
            <a:endParaRPr lang="en-US" dirty="0"/>
          </a:p>
        </p:txBody>
      </p:sp>
      <p:sp>
        <p:nvSpPr>
          <p:cNvPr id="3" name="Footer Placeholder 2">
            <a:extLst>
              <a:ext uri="{FF2B5EF4-FFF2-40B4-BE49-F238E27FC236}">
                <a16:creationId xmlns:a16="http://schemas.microsoft.com/office/drawing/2014/main" id="{6D674D20-27A5-3047-A29B-AE3848DEE9B3}"/>
              </a:ext>
            </a:extLst>
          </p:cNvPr>
          <p:cNvSpPr>
            <a:spLocks noGrp="1"/>
          </p:cNvSpPr>
          <p:nvPr>
            <p:ph type="ftr" sz="quarter" idx="11"/>
          </p:nvPr>
        </p:nvSpPr>
        <p:spPr>
          <a:xfrm>
            <a:off x="419100" y="6492875"/>
            <a:ext cx="10248900" cy="244653"/>
          </a:xfrm>
          <a:prstGeom prst="rect">
            <a:avLst/>
          </a:prstGeom>
        </p:spPr>
        <p:txBody>
          <a:bodyPr vert="horz" lIns="0" tIns="0" rIns="0" bIns="0" rtlCol="0" anchor="t" anchorCtr="0"/>
          <a:lstStyle>
            <a:defPPr>
              <a:defRPr lang="en-US"/>
            </a:defPPr>
            <a:lvl1pPr marL="0" algn="l" defTabSz="914400" rtl="0" eaLnBrk="1" latinLnBrk="0" hangingPunct="1">
              <a:defRPr sz="800" kern="1200">
                <a:solidFill>
                  <a:srgbClr val="212121"/>
                </a:solidFill>
                <a:latin typeface="Inter" panose="02000503000000020004"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2023 GE Vernova and/or its affiliates. All rights reserved.</a:t>
            </a:r>
          </a:p>
        </p:txBody>
      </p:sp>
      <p:sp>
        <p:nvSpPr>
          <p:cNvPr id="7" name="Slide Number Placeholder 6">
            <a:extLst>
              <a:ext uri="{FF2B5EF4-FFF2-40B4-BE49-F238E27FC236}">
                <a16:creationId xmlns:a16="http://schemas.microsoft.com/office/drawing/2014/main" id="{50514A31-B8CC-C094-1EC6-0BE799E3A81E}"/>
              </a:ext>
            </a:extLst>
          </p:cNvPr>
          <p:cNvSpPr>
            <a:spLocks noGrp="1"/>
          </p:cNvSpPr>
          <p:nvPr>
            <p:ph type="sldNum" sz="quarter" idx="12"/>
          </p:nvPr>
        </p:nvSpPr>
        <p:spPr/>
        <p:txBody>
          <a:bodyPr/>
          <a:lstStyle/>
          <a:p>
            <a:fld id="{7A7A97EF-C944-4447-B862-B593E9B4A0FF}" type="slidenum">
              <a:rPr lang="en-US" smtClean="0"/>
              <a:t>8</a:t>
            </a:fld>
            <a:endParaRPr lang="en-US" dirty="0"/>
          </a:p>
        </p:txBody>
      </p:sp>
      <p:sp>
        <p:nvSpPr>
          <p:cNvPr id="5" name="Content Placeholder 4">
            <a:extLst>
              <a:ext uri="{FF2B5EF4-FFF2-40B4-BE49-F238E27FC236}">
                <a16:creationId xmlns:a16="http://schemas.microsoft.com/office/drawing/2014/main" id="{C317AF21-67D5-ACF8-98CB-0F07B5AB7AB9}"/>
              </a:ext>
            </a:extLst>
          </p:cNvPr>
          <p:cNvSpPr txBox="1">
            <a:spLocks/>
          </p:cNvSpPr>
          <p:nvPr/>
        </p:nvSpPr>
        <p:spPr>
          <a:xfrm>
            <a:off x="347382" y="876121"/>
            <a:ext cx="10284759" cy="4628208"/>
          </a:xfrm>
          <a:prstGeom prst="rect">
            <a:avLst/>
          </a:prstGeom>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534924" lvl="1" indent="-342900"/>
            <a:r>
              <a:rPr lang="en-US" dirty="0">
                <a:solidFill>
                  <a:schemeClr val="tx1"/>
                </a:solidFill>
                <a:latin typeface="Inter" panose="020B0502030000000004" pitchFamily="34" charset="0"/>
              </a:rPr>
              <a:t>Amount all the 4139 configurations analyzed, 258 renewable only configurations (on GT) has load compliance of 100%. </a:t>
            </a:r>
          </a:p>
          <a:p>
            <a:pPr marL="534924" lvl="1" indent="-342900"/>
            <a:r>
              <a:rPr lang="en-US" dirty="0">
                <a:solidFill>
                  <a:schemeClr val="tx1"/>
                </a:solidFill>
                <a:latin typeface="Inter" panose="020B0502030000000004" pitchFamily="34" charset="0"/>
              </a:rPr>
              <a:t>Of those 258 renewable only configurations with 100% load compliance, the lowest LCOE is at $144.3/MWh. </a:t>
            </a:r>
          </a:p>
          <a:p>
            <a:pPr marL="534924" lvl="1" indent="-342900"/>
            <a:r>
              <a:rPr lang="en-US" dirty="0">
                <a:solidFill>
                  <a:schemeClr val="tx1"/>
                </a:solidFill>
                <a:latin typeface="Inter" panose="020B0502030000000004" pitchFamily="34" charset="0"/>
              </a:rPr>
              <a:t>The lowest LCOE Renewable Only configuration with 100% load compliance has:</a:t>
            </a:r>
          </a:p>
          <a:p>
            <a:pPr marL="729234" lvl="2" indent="-342900"/>
            <a:r>
              <a:rPr lang="en-US" dirty="0">
                <a:solidFill>
                  <a:schemeClr val="tx1"/>
                </a:solidFill>
                <a:latin typeface="Inter" panose="020B0502030000000004" pitchFamily="34" charset="0"/>
              </a:rPr>
              <a:t>618MW</a:t>
            </a:r>
            <a:r>
              <a:rPr lang="en-US" baseline="-25000" dirty="0">
                <a:solidFill>
                  <a:schemeClr val="tx1"/>
                </a:solidFill>
                <a:latin typeface="Inter" panose="020B0502030000000004" pitchFamily="34" charset="0"/>
              </a:rPr>
              <a:t>ac</a:t>
            </a:r>
            <a:r>
              <a:rPr lang="en-US" dirty="0">
                <a:solidFill>
                  <a:schemeClr val="tx1"/>
                </a:solidFill>
                <a:latin typeface="Inter" panose="020B0502030000000004" pitchFamily="34" charset="0"/>
              </a:rPr>
              <a:t> Solar</a:t>
            </a:r>
          </a:p>
          <a:p>
            <a:pPr marL="729234" lvl="2" indent="-342900"/>
            <a:r>
              <a:rPr lang="en-US" dirty="0">
                <a:solidFill>
                  <a:schemeClr val="tx1"/>
                </a:solidFill>
                <a:latin typeface="Inter" panose="020B0502030000000004" pitchFamily="34" charset="0"/>
              </a:rPr>
              <a:t>452.2MW Wind</a:t>
            </a:r>
          </a:p>
          <a:p>
            <a:pPr marL="729234" lvl="2" indent="-342900"/>
            <a:r>
              <a:rPr lang="en-US" dirty="0">
                <a:solidFill>
                  <a:schemeClr val="tx1"/>
                </a:solidFill>
                <a:latin typeface="Inter" panose="020B0502030000000004" pitchFamily="34" charset="0"/>
              </a:rPr>
              <a:t>200MW 800MWh BESS </a:t>
            </a:r>
          </a:p>
          <a:p>
            <a:pPr marL="534924" lvl="1" indent="-342900"/>
            <a:r>
              <a:rPr lang="en-US" dirty="0">
                <a:solidFill>
                  <a:schemeClr val="tx1"/>
                </a:solidFill>
                <a:latin typeface="Inter" panose="020B0502030000000004" pitchFamily="34" charset="0"/>
              </a:rPr>
              <a:t>Please note that the analysis does not consider equipment availability/reliability and is based on only 1 year hourly Wind Resource data and on Typical Meteorological Year hourly Solar Resource data (P50).  </a:t>
            </a:r>
          </a:p>
        </p:txBody>
      </p:sp>
    </p:spTree>
    <p:extLst>
      <p:ext uri="{BB962C8B-B14F-4D97-AF65-F5344CB8AC3E}">
        <p14:creationId xmlns:p14="http://schemas.microsoft.com/office/powerpoint/2010/main" val="32262560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2.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3.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4.xml><?xml version="1.0" encoding="utf-8"?>
<p:tagLst xmlns:a="http://schemas.openxmlformats.org/drawingml/2006/main" xmlns:r="http://schemas.openxmlformats.org/officeDocument/2006/relationships" xmlns:p="http://schemas.openxmlformats.org/presentationml/2006/main">
  <p:tag name="GEVCATEGORY" val="Title"/>
  <p:tag name="GEVCONTENTTYPE" val="title"/>
  <p:tag name="GEVPURPOSE" val="Opening / cover slide."/>
  <p:tag name="GEVDENSITY" val="One headline + short subtitle. Keep title &lt;= 8 words."/>
  <p:tag name="GEVPROMPTREADY" val="false"/>
</p:tagLst>
</file>

<file path=ppt/tags/tag5.xml><?xml version="1.0" encoding="utf-8"?>
<p:tagLst xmlns:a="http://schemas.openxmlformats.org/drawingml/2006/main" xmlns:r="http://schemas.openxmlformats.org/officeDocument/2006/relationships" xmlns:p="http://schemas.openxmlformats.org/presentationml/2006/main">
  <p:tag name="GEVCATEGORY" val="Utility"/>
  <p:tag name="GEVCONTENTTYPE" val="blank"/>
  <p:tag name="GEVPURPOSE" val="Free-form slide."/>
  <p:tag name="GEVDENSITY" val="No placeholders. Build custom content."/>
  <p:tag name="GEVPROMPTREADY" val="false"/>
</p:tagLst>
</file>

<file path=ppt/tags/tag6.xml><?xml version="1.0" encoding="utf-8"?>
<p:tagLst xmlns:a="http://schemas.openxmlformats.org/drawingml/2006/main" xmlns:r="http://schemas.openxmlformats.org/officeDocument/2006/relationships" xmlns:p="http://schemas.openxmlformats.org/presentationml/2006/main">
  <p:tag name="GEVCATEGORY" val="Section"/>
  <p:tag name="GEVCONTENTTYPE" val="section"/>
  <p:tag name="GEVPURPOSE" val="Section break / heading."/>
  <p:tag name="GEVDENSITY" val="Heading only. Use to signal a new section."/>
  <p:tag name="GEVPROMPTREADY" val="false"/>
</p:tagLst>
</file>

<file path=ppt/tags/tag7.xml><?xml version="1.0" encoding="utf-8"?>
<p:tagLst xmlns:a="http://schemas.openxmlformats.org/drawingml/2006/main" xmlns:r="http://schemas.openxmlformats.org/officeDocument/2006/relationships" xmlns:p="http://schemas.openxmlformats.org/presentationml/2006/main">
  <p:tag name="GEVCATEGORY" val="Content"/>
  <p:tag name="GEVCONTENTTYPE" val="bullets"/>
  <p:tag name="GEVPURPOSE" val="Single-column bullet list."/>
  <p:tag name="GEVDENSITY" val="Max 5 bullets, &lt;= 12 words each. One idea per slide."/>
  <p:tag name="GEVPROMPTREADY" val="false"/>
</p:tagLst>
</file>

<file path=ppt/tags/tag8.xml><?xml version="1.0" encoding="utf-8"?>
<p:tagLst xmlns:a="http://schemas.openxmlformats.org/drawingml/2006/main" xmlns:r="http://schemas.openxmlformats.org/officeDocument/2006/relationships" xmlns:p="http://schemas.openxmlformats.org/presentationml/2006/main">
  <p:tag name="GEVCATEGORY" val="Content"/>
  <p:tag name="GEVCONTENTTYPE" val="bullets-sub"/>
  <p:tag name="GEVPURPOSE" val="Bullet list with a subtitle."/>
  <p:tag name="GEVDENSITY" val="Subtitle &lt;= 12 words. Body: max 5 bullets, &lt;= 12 words each."/>
  <p:tag name="GEVPROMPTREADY" val="false"/>
</p:tagLst>
</file>

<file path=ppt/tags/tag9.xml><?xml version="1.0" encoding="utf-8"?>
<p:tagLst xmlns:a="http://schemas.openxmlformats.org/drawingml/2006/main" xmlns:r="http://schemas.openxmlformats.org/officeDocument/2006/relationships" xmlns:p="http://schemas.openxmlformats.org/presentationml/2006/main">
  <p:tag name="GEVCATEGORY" val="Content"/>
  <p:tag name="GEVCONTENTTYPE" val="two-col"/>
  <p:tag name="GEVPURPOSE" val="Two parallel groups or compare / contrast."/>
  <p:tag name="GEVDENSITY" val="Max 4 bullets per column, &lt;= 10 words each."/>
  <p:tag name="GEVPROMPTREADY" val="false"/>
</p:tagLst>
</file>

<file path=ppt/tags/tag10.xml><?xml version="1.0" encoding="utf-8"?>
<p:tagLst xmlns:a="http://schemas.openxmlformats.org/drawingml/2006/main" xmlns:r="http://schemas.openxmlformats.org/officeDocument/2006/relationships" xmlns:p="http://schemas.openxmlformats.org/presentationml/2006/main">
  <p:tag name="GEVCATEGORY" val="Content"/>
  <p:tag name="GEVCONTENTTYPE" val="two-col-sub"/>
  <p:tag name="GEVPURPOSE" val="Two columns with subtitle."/>
  <p:tag name="GEVDENSITY" val="Subtitle &lt;= 12 words. Max 4 bullets per column."/>
  <p:tag name="GEVPROMPTREADY" val="false"/>
</p:tagLst>
</file>

<file path=ppt/tags/tag11.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2.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3.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4.xml><?xml version="1.0" encoding="utf-8"?>
<p:tagLst xmlns:a="http://schemas.openxmlformats.org/drawingml/2006/main" xmlns:r="http://schemas.openxmlformats.org/officeDocument/2006/relationships" xmlns:p="http://schemas.openxmlformats.org/presentationml/2006/main">
  <p:tag name="GEVCATEGORY" val="Content"/>
  <p:tag name="GEVCONTENTTYPE" val="two-col-asym"/>
  <p:tag name="GEVPURPOSE" val="Lead column + supporting column."/>
  <p:tag name="GEVDENSITY" val="Lead idea left, support right. Max 4 bullets each."/>
  <p:tag name="GEVPROMPTREADY" val="false"/>
</p:tagLst>
</file>

<file path=ppt/tags/tag15.xml><?xml version="1.0" encoding="utf-8"?>
<p:tagLst xmlns:a="http://schemas.openxmlformats.org/drawingml/2006/main" xmlns:r="http://schemas.openxmlformats.org/officeDocument/2006/relationships" xmlns:p="http://schemas.openxmlformats.org/presentationml/2006/main">
  <p:tag name="GEVCATEGORY" val="Content"/>
  <p:tag name="GEVCONTENTTYPE" val="three-col"/>
  <p:tag name="GEVPURPOSE" val="Three parallel items or steps."/>
  <p:tag name="GEVDENSITY" val="&lt;= 3 bullets per column. Headers &lt;= 4 words."/>
  <p:tag name="GEVPROMPTREADY" val="false"/>
</p:tagLst>
</file>

<file path=ppt/tags/tag16.xml><?xml version="1.0" encoding="utf-8"?>
<p:tagLst xmlns:a="http://schemas.openxmlformats.org/drawingml/2006/main" xmlns:r="http://schemas.openxmlformats.org/officeDocument/2006/relationships" xmlns:p="http://schemas.openxmlformats.org/presentationml/2006/main">
  <p:tag name="GEVCATEGORY" val="Content"/>
  <p:tag name="GEVCONTENTTYPE" val="three-col"/>
  <p:tag name="GEVPURPOSE" val="Three parallel items or steps."/>
  <p:tag name="GEVDENSITY" val="&lt;= 3 bullets per column. Headers &lt;= 4 words."/>
  <p:tag name="GEVPROMPTREADY" val="false"/>
</p:tagLst>
</file>

<file path=ppt/tags/tag17.xml><?xml version="1.0" encoding="utf-8"?>
<p:tagLst xmlns:a="http://schemas.openxmlformats.org/drawingml/2006/main" xmlns:r="http://schemas.openxmlformats.org/officeDocument/2006/relationships" xmlns:p="http://schemas.openxmlformats.org/presentationml/2006/main">
  <p:tag name="GEVCATEGORY" val="Content"/>
  <p:tag name="GEVCONTENTTYPE" val="four-col"/>
  <p:tag name="GEVPURPOSE" val="Four parallel items."/>
  <p:tag name="GEVDENSITY" val="Short header + 1-2 lines per column. No paragraphs."/>
  <p:tag name="GEVPROMPTREADY" val="false"/>
</p:tagLst>
</file>

<file path=ppt/tags/tag18.xml><?xml version="1.0" encoding="utf-8"?>
<p:tagLst xmlns:a="http://schemas.openxmlformats.org/drawingml/2006/main" xmlns:r="http://schemas.openxmlformats.org/officeDocument/2006/relationships" xmlns:p="http://schemas.openxmlformats.org/presentationml/2006/main">
  <p:tag name="GEVCATEGORY" val="Content"/>
  <p:tag name="GEVCONTENTTYPE" val="four-col"/>
  <p:tag name="GEVPURPOSE" val="Four parallel items."/>
  <p:tag name="GEVDENSITY" val="Short header + 1-2 lines per column. No paragraphs."/>
  <p:tag name="GEVPROMPTREADY" val="false"/>
</p:tagLst>
</file>

<file path=ppt/tags/tag19.xml><?xml version="1.0" encoding="utf-8"?>
<p:tagLst xmlns:a="http://schemas.openxmlformats.org/drawingml/2006/main" xmlns:r="http://schemas.openxmlformats.org/officeDocument/2006/relationships" xmlns:p="http://schemas.openxmlformats.org/presentationml/2006/main">
  <p:tag name="GEVCATEGORY" val="Content"/>
  <p:tag name="GEVCONTENTTYPE" val="two-third"/>
  <p:tag name="GEVPURPOSE" val="Primary 2/3 + secondary 1/3 split."/>
  <p:tag name="GEVDENSITY" val="Main content left; supporting note right."/>
  <p:tag name="GEVPROMPTREADY" val="false"/>
</p:tagLst>
</file>

<file path=ppt/tags/tag20.xml><?xml version="1.0" encoding="utf-8"?>
<p:tagLst xmlns:a="http://schemas.openxmlformats.org/drawingml/2006/main" xmlns:r="http://schemas.openxmlformats.org/officeDocument/2006/relationships" xmlns:p="http://schemas.openxmlformats.org/presentationml/2006/main">
  <p:tag name="GEVCATEGORY" val="Content"/>
  <p:tag name="GEVCONTENTTYPE" val="photo-bg"/>
  <p:tag name="GEVPURPOSE" val="Full photo background with overlay text."/>
  <p:tag name="GEVDENSITY" val="Keep text short for contrast. &lt;= 3 lines."/>
  <p:tag name="GEVPROMPTREADY" val="false"/>
</p:tagLst>
</file>

<file path=ppt/tags/tag21.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2.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3.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4.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5.xml><?xml version="1.0" encoding="utf-8"?>
<p:tagLst xmlns:a="http://schemas.openxmlformats.org/drawingml/2006/main" xmlns:r="http://schemas.openxmlformats.org/officeDocument/2006/relationships" xmlns:p="http://schemas.openxmlformats.org/presentationml/2006/main">
  <p:tag name="GEVCATEGORY" val="Content"/>
  <p:tag name="GEVCONTENTTYPE" val="boxed"/>
  <p:tag name="GEVPURPOSE" val="Boxed / carded content."/>
  <p:tag name="GEVDENSITY" val="One idea per box. Header + &lt;= 3 bullets each."/>
  <p:tag name="GEVPROMPTREADY" val="false"/>
</p:tagLst>
</file>

<file path=ppt/tags/tag26.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7.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8.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29.xml><?xml version="1.0" encoding="utf-8"?>
<p:tagLst xmlns:a="http://schemas.openxmlformats.org/drawingml/2006/main" xmlns:r="http://schemas.openxmlformats.org/officeDocument/2006/relationships" xmlns:p="http://schemas.openxmlformats.org/presentationml/2006/main">
  <p:tag name="GEVCATEGORY" val="Divider"/>
  <p:tag name="GEVCONTENTTYPE" val="divider"/>
  <p:tag name="GEVPURPOSE" val="Divider between sections."/>
  <p:tag name="GEVDENSITY" val="Title only (optional short label). No body content."/>
  <p:tag name="GEVPROMPTREADY" val="false"/>
</p:tagLst>
</file>

<file path=ppt/tags/tag30.xml><?xml version="1.0" encoding="utf-8"?>
<p:tagLst xmlns:a="http://schemas.openxmlformats.org/drawingml/2006/main" xmlns:r="http://schemas.openxmlformats.org/officeDocument/2006/relationships" xmlns:p="http://schemas.openxmlformats.org/presentationml/2006/main">
  <p:tag name="GEVCATEGORY" val="Infographic"/>
  <p:tag name="GEVCONTENTTYPE" val="infographic"/>
  <p:tag name="GEVPURPOSE" val="Infographic grid (decorative)."/>
  <p:tag name="GEVDENSITY" val="Replace icons + short labels. Keep labels &lt;= 4 words."/>
  <p:tag name="GEVPROMPTREADY" val="false"/>
</p:tagLst>
</file>

<file path=ppt/tags/tag31.xml><?xml version="1.0" encoding="utf-8"?>
<p:tagLst xmlns:a="http://schemas.openxmlformats.org/drawingml/2006/main" xmlns:r="http://schemas.openxmlformats.org/officeDocument/2006/relationships" xmlns:p="http://schemas.openxmlformats.org/presentationml/2006/main">
  <p:tag name="GEVCATEGORY" val="Infographic"/>
  <p:tag name="GEVCONTENTTYPE" val="infographic"/>
  <p:tag name="GEVPURPOSE" val="Infographic grid (decorative)."/>
  <p:tag name="GEVDENSITY" val="Replace icons + short labels. Keep labels &lt;= 4 words."/>
  <p:tag name="GEVPROMPTREADY" val="false"/>
</p:tagLst>
</file>

<file path=ppt/tags/tag32.xml><?xml version="1.0" encoding="utf-8"?>
<p:tagLst xmlns:a="http://schemas.openxmlformats.org/drawingml/2006/main" xmlns:r="http://schemas.openxmlformats.org/officeDocument/2006/relationships" xmlns:p="http://schemas.openxmlformats.org/presentationml/2006/main">
  <p:tag name="GEVCATEGORY" val="Team"/>
  <p:tag name="GEVCONTENTTYPE" val="team"/>
  <p:tag name="GEVPURPOSE" val="Team / presenter photos."/>
  <p:tag name="GEVDENSITY" val="Photo + name + role per person. Role &lt;= 6 words."/>
  <p:tag name="GEVPROMPTREADY" val="false"/>
</p:tagLst>
</file>

<file path=ppt/tags/tag33.xml><?xml version="1.0" encoding="utf-8"?>
<p:tagLst xmlns:a="http://schemas.openxmlformats.org/drawingml/2006/main" xmlns:r="http://schemas.openxmlformats.org/officeDocument/2006/relationships" xmlns:p="http://schemas.openxmlformats.org/presentationml/2006/main">
  <p:tag name="GEVCATEGORY" val="Media"/>
  <p:tag name="GEVCONTENTTYPE" val="media-right"/>
  <p:tag name="GEVPURPOSE" val="Text left, image right."/>
  <p:tag name="GEVDENSITY" val="Max 4 bullets. Let the image carry weight."/>
  <p:tag name="GEVPROMPTREADY" val="false"/>
</p:tagLst>
</file>

<file path=ppt/tags/tag34.xml><?xml version="1.0" encoding="utf-8"?>
<p:tagLst xmlns:a="http://schemas.openxmlformats.org/drawingml/2006/main" xmlns:r="http://schemas.openxmlformats.org/officeDocument/2006/relationships" xmlns:p="http://schemas.openxmlformats.org/presentationml/2006/main">
  <p:tag name="GEVCATEGORY" val="Media"/>
  <p:tag name="GEVCONTENTTYPE" val="media-left"/>
  <p:tag name="GEVPURPOSE" val="Image left, text right."/>
  <p:tag name="GEVDENSITY" val="Max 4 bullets. Let the image carry weight."/>
  <p:tag name="GEVPROMPTREADY" val="false"/>
</p:tagLst>
</file>

<file path=ppt/tags/tag35.xml><?xml version="1.0" encoding="utf-8"?>
<p:tagLst xmlns:a="http://schemas.openxmlformats.org/drawingml/2006/main" xmlns:r="http://schemas.openxmlformats.org/officeDocument/2006/relationships" xmlns:p="http://schemas.openxmlformats.org/presentationml/2006/main">
  <p:tag name="GEVCATEGORY" val="Media"/>
  <p:tag name="GEVCONTENTTYPE" val="media-full"/>
  <p:tag name="GEVPURPOSE" val="Full-bleed image with caption."/>
  <p:tag name="GEVDENSITY" val="Caption &lt;= 12 words."/>
  <p:tag name="GEVPROMPTREADY" val="false"/>
</p:tagLst>
</file>

<file path=ppt/tags/tag36.xml><?xml version="1.0" encoding="utf-8"?>
<p:tagLst xmlns:a="http://schemas.openxmlformats.org/drawingml/2006/main" xmlns:r="http://schemas.openxmlformats.org/officeDocument/2006/relationships" xmlns:p="http://schemas.openxmlformats.org/presentationml/2006/main">
  <p:tag name="GEVCATEGORY" val="Compare"/>
  <p:tag name="GEVCONTENTTYPE" val="compare"/>
  <p:tag name="GEVPURPOSE" val="Side-by-side comparison."/>
  <p:tag name="GEVDENSITY" val="Same number of points each side. &lt;= 4 per side."/>
  <p:tag name="GEVPROMPTREADY" val="false"/>
</p:tagLst>
</file>

<file path=ppt/tags/tag37.xml><?xml version="1.0" encoding="utf-8"?>
<p:tagLst xmlns:a="http://schemas.openxmlformats.org/drawingml/2006/main" xmlns:r="http://schemas.openxmlformats.org/officeDocument/2006/relationships" xmlns:p="http://schemas.openxmlformats.org/presentationml/2006/main">
  <p:tag name="GEVCATEGORY" val="Compare"/>
  <p:tag name="GEVCONTENTTYPE" val="compare"/>
  <p:tag name="GEVPURPOSE" val="Side-by-side comparison."/>
  <p:tag name="GEVDENSITY" val="Same number of points each side. &lt;= 4 per side."/>
  <p:tag name="GEVPROMPTREADY" val="false"/>
</p:tagLst>
</file>

<file path=ppt/tags/tag38.xml><?xml version="1.0" encoding="utf-8"?>
<p:tagLst xmlns:a="http://schemas.openxmlformats.org/drawingml/2006/main" xmlns:r="http://schemas.openxmlformats.org/officeDocument/2006/relationships" xmlns:p="http://schemas.openxmlformats.org/presentationml/2006/main">
  <p:tag name="GEVCATEGORY" val="Quote"/>
  <p:tag name="GEVCONTENTTYPE" val="quote"/>
  <p:tag name="GEVPURPOSE" val="Single quote or statement."/>
  <p:tag name="GEVDENSITY" val="One statement, &lt;= 30 words. Attribute the source."/>
  <p:tag name="GEVPROMPTREADY" val="false"/>
</p:tagLst>
</file>

<file path=ppt/tags/tag39.xml><?xml version="1.0" encoding="utf-8"?>
<p:tagLst xmlns:a="http://schemas.openxmlformats.org/drawingml/2006/main" xmlns:r="http://schemas.openxmlformats.org/officeDocument/2006/relationships" xmlns:p="http://schemas.openxmlformats.org/presentationml/2006/main">
  <p:tag name="GEVCATEGORY" val="Quote"/>
  <p:tag name="GEVCONTENTTYPE" val="quote"/>
  <p:tag name="GEVPURPOSE" val="Single quote or statement."/>
  <p:tag name="GEVDENSITY" val="One statement, &lt;= 30 words. Attribute the source."/>
  <p:tag name="GEVPROMPTREADY" val="false"/>
</p:tagLst>
</file>

<file path=ppt/tags/tag40.xml><?xml version="1.0" encoding="utf-8"?>
<p:tagLst xmlns:a="http://schemas.openxmlformats.org/drawingml/2006/main" xmlns:r="http://schemas.openxmlformats.org/officeDocument/2006/relationships" xmlns:p="http://schemas.openxmlformats.org/presentationml/2006/main">
  <p:tag name="GEVCATEGORY" val="Stats"/>
  <p:tag name="GEVCONTENTTYPE" val="stat3"/>
  <p:tag name="GEVPURPOSE" val="Three headline statistics."/>
  <p:tag name="GEVDENSITY" val="Big number + &lt;= 6-word label each. Max 3 stats."/>
  <p:tag name="GEVPROMPTREADY" val="false"/>
</p:tagLst>
</file>

<file path=ppt/tags/tag41.xml><?xml version="1.0" encoding="utf-8"?>
<p:tagLst xmlns:a="http://schemas.openxmlformats.org/drawingml/2006/main" xmlns:r="http://schemas.openxmlformats.org/officeDocument/2006/relationships" xmlns:p="http://schemas.openxmlformats.org/presentationml/2006/main">
  <p:tag name="GEVCATEGORY" val="Stats"/>
  <p:tag name="GEVCONTENTTYPE" val="stat3"/>
  <p:tag name="GEVPURPOSE" val="Three headline statistics."/>
  <p:tag name="GEVDENSITY" val="Big number + &lt;= 6-word label each. Max 3 stats."/>
  <p:tag name="GEVPROMPTREADY" val="false"/>
</p:tagLst>
</file>

<file path=ppt/tags/tag42.xml><?xml version="1.0" encoding="utf-8"?>
<p:tagLst xmlns:a="http://schemas.openxmlformats.org/drawingml/2006/main" xmlns:r="http://schemas.openxmlformats.org/officeDocument/2006/relationships" xmlns:p="http://schemas.openxmlformats.org/presentationml/2006/main">
  <p:tag name="GEVCATEGORY" val="Stats"/>
  <p:tag name="GEVCONTENTTYPE" val="stat-med"/>
  <p:tag name="GEVPURPOSE" val="Medium stat with supporting image."/>
  <p:tag name="GEVDENSITY" val="One number + short context line."/>
  <p:tag name="GEVPROMPTREADY" val="false"/>
</p:tagLst>
</file>

<file path=ppt/tags/tag43.xml><?xml version="1.0" encoding="utf-8"?>
<p:tagLst xmlns:a="http://schemas.openxmlformats.org/drawingml/2006/main" xmlns:r="http://schemas.openxmlformats.org/officeDocument/2006/relationships" xmlns:p="http://schemas.openxmlformats.org/presentationml/2006/main">
  <p:tag name="GEVCATEGORY" val="Stats"/>
  <p:tag name="GEVCONTENTTYPE" val="stat-med"/>
  <p:tag name="GEVPURPOSE" val="Medium stat with supporting image."/>
  <p:tag name="GEVDENSITY" val="One number + short context line."/>
  <p:tag name="GEVPROMPTREADY" val="false"/>
</p:tagLst>
</file>

<file path=ppt/tags/tag44.xml><?xml version="1.0" encoding="utf-8"?>
<p:tagLst xmlns:a="http://schemas.openxmlformats.org/drawingml/2006/main" xmlns:r="http://schemas.openxmlformats.org/officeDocument/2006/relationships" xmlns:p="http://schemas.openxmlformats.org/presentationml/2006/main">
  <p:tag name="GEVCATEGORY" val="Stats"/>
  <p:tag name="GEVCONTENTTYPE" val="stat-large"/>
  <p:tag name="GEVPURPOSE" val="One large headline statistic."/>
  <p:tag name="GEVDENSITY" val="Single big number + &lt;= 6-word label."/>
  <p:tag name="GEVPROMPTREADY" val="false"/>
</p:tagLst>
</file>

<file path=ppt/tags/tag45.xml><?xml version="1.0" encoding="utf-8"?>
<p:tagLst xmlns:a="http://schemas.openxmlformats.org/drawingml/2006/main" xmlns:r="http://schemas.openxmlformats.org/officeDocument/2006/relationships" xmlns:p="http://schemas.openxmlformats.org/presentationml/2006/main">
  <p:tag name="GEVCATEGORY" val="Stats"/>
  <p:tag name="GEVCONTENTTYPE" val="stat-large"/>
  <p:tag name="GEVPURPOSE" val="One large headline statistic."/>
  <p:tag name="GEVDENSITY" val="Single big number + &lt;= 6-word label."/>
  <p:tag name="GEVPROMPTREADY" val="false"/>
</p:tagLst>
</file>

<file path=ppt/tags/tag46.xml><?xml version="1.0" encoding="utf-8"?>
<p:tagLst xmlns:a="http://schemas.openxmlformats.org/drawingml/2006/main" xmlns:r="http://schemas.openxmlformats.org/officeDocument/2006/relationships" xmlns:p="http://schemas.openxmlformats.org/presentationml/2006/main">
  <p:tag name="GEVCATEGORY" val="Closing"/>
  <p:tag name="GEVCONTENTTYPE" val="closing"/>
  <p:tag name="GEVPURPOSE" val="Closing / sign-off slide."/>
  <p:tag name="GEVDENSITY" val="Thank-you or contact. Keep minimal."/>
  <p:tag name="GEVPROMPTREADY" val="false"/>
</p:tagLst>
</file>

<file path=ppt/tags/tag47.xml><?xml version="1.0" encoding="utf-8"?>
<p:tagLst xmlns:a="http://schemas.openxmlformats.org/drawingml/2006/main" xmlns:r="http://schemas.openxmlformats.org/officeDocument/2006/relationships" xmlns:p="http://schemas.openxmlformats.org/presentationml/2006/main">
  <p:tag name="GEVCATEGORY" val="Closing"/>
  <p:tag name="GEVCONTENTTYPE" val="closing"/>
  <p:tag name="GEVPURPOSE" val="Closing / sign-off slide."/>
  <p:tag name="GEVDENSITY" val="Thank-you or contact. Keep minimal."/>
  <p:tag name="GEVPROMPTREADY" val="false"/>
</p:tagLst>
</file>

<file path=ppt/tags/tag48.xml><?xml version="1.0" encoding="utf-8"?>
<p:tagLst xmlns:a="http://schemas.openxmlformats.org/drawingml/2006/main" xmlns:r="http://schemas.openxmlformats.org/officeDocument/2006/relationships" xmlns:p="http://schemas.openxmlformats.org/presentationml/2006/main">
  <p:tag name="GEVCATEGORY" val="Prompt"/>
  <p:tag name="GEVCONTENTTYPE" val="prompt-structure"/>
  <p:tag name="GEVPURPOSE" val="Prompt scaffold: Context / Task / Output."/>
  <p:tag name="GEVDENSITY" val="One clear instruction per box. &lt;= 3 lines each."/>
  <p:tag name="GEVPROMPTREADY" val="true"/>
</p:tagLst>
</file>

<file path=ppt/tags/tag49.xml><?xml version="1.0" encoding="utf-8"?>
<p:tagLst xmlns:a="http://schemas.openxmlformats.org/drawingml/2006/main" xmlns:r="http://schemas.openxmlformats.org/officeDocument/2006/relationships" xmlns:p="http://schemas.openxmlformats.org/presentationml/2006/main">
  <p:tag name="GEVCATEGORY" val="Prompt"/>
  <p:tag name="GEVCONTENTTYPE" val="prompt-ba"/>
  <p:tag name="GEVPURPOSE" val="Before / After prompt comparison."/>
  <p:tag name="GEVDENSITY" val="Weak prompt left, improved prompt right."/>
  <p:tag name="GEVPROMPTREADY" val="true"/>
</p:tagLst>
</file>

<file path=ppt/tags/tag50.xml><?xml version="1.0" encoding="utf-8"?>
<p:tagLst xmlns:a="http://schemas.openxmlformats.org/drawingml/2006/main" xmlns:r="http://schemas.openxmlformats.org/officeDocument/2006/relationships" xmlns:p="http://schemas.openxmlformats.org/presentationml/2006/main">
  <p:tag name="GEVCATEGORY" val="Workflow"/>
  <p:tag name="GEVCONTENTTYPE" val="workflow-3step"/>
  <p:tag name="GEVPURPOSE" val="Three-step process / workflow."/>
  <p:tag name="GEVDENSITY" val="One action per step. Verb-first, &lt;= 8 words."/>
  <p:tag name="GEVPROMPTREADY" val="true"/>
</p:tagLst>
</file>

<file path=ppt/tags/tag51.xml><?xml version="1.0" encoding="utf-8"?>
<p:tagLst xmlns:a="http://schemas.openxmlformats.org/drawingml/2006/main" xmlns:r="http://schemas.openxmlformats.org/officeDocument/2006/relationships" xmlns:p="http://schemas.openxmlformats.org/presentationml/2006/main">
  <p:tag name="GEVCATEGORY" val="Workflow"/>
  <p:tag name="GEVCONTENTTYPE" val="workflow-decision"/>
  <p:tag name="GEVPURPOSE" val="Decision framework / branches."/>
  <p:tag name="GEVDENSITY" val="One condition or option per box. Keep parallel."/>
  <p:tag name="GEVPROMPTREADY" val="tru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E Vernova">
  <a:themeElements>
    <a:clrScheme name="GE Vernova 3/14/24">
      <a:dk1>
        <a:srgbClr val="005E60"/>
      </a:dk1>
      <a:lt1>
        <a:srgbClr val="FFFFFF"/>
      </a:lt1>
      <a:dk2>
        <a:srgbClr val="212121"/>
      </a:dk2>
      <a:lt2>
        <a:srgbClr val="C8FF08"/>
      </a:lt2>
      <a:accent1>
        <a:srgbClr val="004745"/>
      </a:accent1>
      <a:accent2>
        <a:srgbClr val="E3E3E3"/>
      </a:accent2>
      <a:accent3>
        <a:srgbClr val="CCCCCC"/>
      </a:accent3>
      <a:accent4>
        <a:srgbClr val="696969"/>
      </a:accent4>
      <a:accent5>
        <a:srgbClr val="484848"/>
      </a:accent5>
      <a:accent6>
        <a:srgbClr val="458A8A"/>
      </a:accent6>
      <a:hlink>
        <a:srgbClr val="2176FF"/>
      </a:hlink>
      <a:folHlink>
        <a:srgbClr val="3E9E00"/>
      </a:folHlink>
    </a:clrScheme>
    <a:fontScheme name="GEV Custom">
      <a:majorFont>
        <a:latin typeface="Inter Semi Bold"/>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Dark Evergreen">
      <a:srgbClr val="004745"/>
    </a:custClr>
    <a:custClr name="Evergreen Tint 1">
      <a:srgbClr val="458A8A"/>
    </a:custClr>
    <a:custClr name="Evergreen Tint 2">
      <a:srgbClr val="96BDBD"/>
    </a:custClr>
    <a:custClr name="Evergreen Tint 1">
      <a:srgbClr val="C7DBDB"/>
    </a:custClr>
    <a:custClr name="Dark Sky">
      <a:srgbClr val="2176FF"/>
    </a:custClr>
    <a:custClr name="Sky">
      <a:srgbClr val="5FB7FF"/>
    </a:custClr>
    <a:custClr name="Dark Forest">
      <a:srgbClr val="3E9E00"/>
    </a:custClr>
    <a:custClr name="Forest">
      <a:srgbClr val="7BDD3C"/>
    </a:custClr>
    <a:custClr name="Dark Earth">
      <a:srgbClr val="4A2419"/>
    </a:custClr>
    <a:custClr name="Earth">
      <a:srgbClr val="774936"/>
    </a:custClr>
  </a:custClrLst>
  <a:extLst>
    <a:ext uri="{05A4C25C-085E-4340-85A3-A5531E510DB2}">
      <thm15:themeFamily xmlns:thm15="http://schemas.microsoft.com/office/thememl/2012/main" name="GEV Copilot Template.potx" id="{837810ED-FCBD-4789-BFDA-341C04B644FE}" vid="{9D019A25-586E-4739-946B-DE1A99D46A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3DF0581A9C67B46B310C764E0F2323B" ma:contentTypeVersion="3" ma:contentTypeDescription="Create a new document." ma:contentTypeScope="" ma:versionID="7de22043b5b5c7aa72ccfed33adda3c2">
  <xsd:schema xmlns:xsd="http://www.w3.org/2001/XMLSchema" xmlns:xs="http://www.w3.org/2001/XMLSchema" xmlns:p="http://schemas.microsoft.com/office/2006/metadata/properties" xmlns:ns2="ca66da7d-5aa0-4c1f-b876-dda415a48504" targetNamespace="http://schemas.microsoft.com/office/2006/metadata/properties" ma:root="true" ma:fieldsID="d212ce0db9c4b8ac13d2f4206afc8835" ns2:_="">
    <xsd:import namespace="ca66da7d-5aa0-4c1f-b876-dda415a4850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66da7d-5aa0-4c1f-b876-dda415a485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DCF63F6-40B6-48A8-982E-2BF15F18CB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66da7d-5aa0-4c1f-b876-dda415a485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s>
</ds:datastoreItem>
</file>

<file path=customXml/itemProps3.xml><?xml version="1.0" encoding="utf-8"?>
<ds:datastoreItem xmlns:ds="http://schemas.openxmlformats.org/officeDocument/2006/customXml" ds:itemID="{BDE64E55-0318-435E-9885-1C7A491FCFD5}">
  <ds:schemaRefs>
    <ds:schemaRef ds:uri="http://schemas.microsoft.com/sharepoint/v3/contenttype/forms"/>
  </ds:schemaRefs>
</ds:datastoreItem>
</file>

<file path=docMetadata/LabelInfo.xml><?xml version="1.0" encoding="utf-8"?>
<clbl:labelList xmlns:clbl="http://schemas.microsoft.com/office/2020/mipLabelMetadata">
  <clbl:label id="{15ccb6d1-d335-4996-b6f9-7b6925f08121}" enabled="0" method="" siteId="{15ccb6d1-d335-4996-b6f9-7b6925f08121}" removed="1"/>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GEV Copilot Template</Template>
  <TotalTime>0</TotalTime>
  <Words>815</Words>
  <Application>Microsoft Office PowerPoint</Application>
  <PresentationFormat>Widescreen</PresentationFormat>
  <Paragraphs>98</Paragraphs>
  <Slides>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6" baseType="lpstr">
      <vt:lpstr>Arial</vt:lpstr>
      <vt:lpstr>Inter Semi Bold</vt:lpstr>
      <vt:lpstr>Wingdings</vt:lpstr>
      <vt:lpstr>Inter</vt:lpstr>
      <vt:lpstr>Calibri</vt:lpstr>
      <vt:lpstr>Sons Condensed Extrabold</vt:lpstr>
      <vt:lpstr>GE Vernova</vt:lpstr>
      <vt:lpstr>think-cell Slide</vt:lpstr>
      <vt:lpstr>200MW Round-the-clock power plant</vt:lpstr>
      <vt:lpstr>REVISIONS</vt:lpstr>
      <vt:lpstr>DISCLAIMER NOTICE </vt:lpstr>
      <vt:lpstr>Hybrid Power Plant for 200MW Round-the-Clock Load</vt:lpstr>
      <vt:lpstr>Model Assumptions </vt:lpstr>
      <vt:lpstr>LCOE vs. Plant Load Compliance</vt:lpstr>
      <vt:lpstr>LCOE vs. Carbon Free Energy %</vt:lpstr>
      <vt:lpstr>Renewable Only Configuration with 100% Load Compliance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Yan, Martin (GE Vernova)</dc:creator>
  <cp:keywords/>
  <dc:description/>
  <cp:lastModifiedBy>Yan, Martin (GE Vernova)</cp:lastModifiedBy>
  <cp:revision>1</cp:revision>
  <dcterms:created xsi:type="dcterms:W3CDTF">2026-10-10T03:24:32Z</dcterms:created>
  <dcterms:modified xsi:type="dcterms:W3CDTF">2026-10-15T00:31:46Z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0x010100E3DF0581A9C67B46B310C764E0F2323B</vt:lpwstr>
  </property>
</Properties>
</file>